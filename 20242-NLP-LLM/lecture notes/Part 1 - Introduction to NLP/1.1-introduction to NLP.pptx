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_rels/presentation.xml.rels" ContentType="application/vnd.openxmlformats-package.relationships+xml"/>
  <Override PartName="/ppt/media/image1.png" ContentType="image/png"/>
  <Override PartName="/ppt/media/image2.jpeg" ContentType="image/jpeg"/>
  <Override PartName="/ppt/media/image4.png" ContentType="image/png"/>
  <Override PartName="/ppt/media/image3.png" ContentType="image/png"/>
  <Override PartName="/ppt/media/image5.jpeg" ContentType="image/jpeg"/>
  <Override PartName="/ppt/media/image6.jpeg" ContentType="image/jpeg"/>
  <Override PartName="/ppt/media/image8.wmf" ContentType="image/x-wmf"/>
  <Override PartName="/ppt/media/image9.png" ContentType="image/png"/>
  <Override PartName="/ppt/media/image10.svg" ContentType="image/svg"/>
  <Override PartName="/ppt/media/image7.wmf" ContentType="image/x-wmf"/>
  <Override PartName="/ppt/media/image12.png" ContentType="image/png"/>
  <Override PartName="/ppt/media/image11.png" ContentType="image/png"/>
  <Override PartName="/ppt/media/image13.jpeg" ContentType="image/jpeg"/>
  <Override PartName="/ppt/slideLayouts/slideLayout9.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10.xml.rels" ContentType="application/vnd.openxmlformats-package.relationships+xml"/>
  <Override PartName="/ppt/slideLayouts/_rels/slideLayout3.xml.rels" ContentType="application/vnd.openxmlformats-package.relationships+xml"/>
  <Override PartName="/ppt/slideLayouts/_rels/slideLayout11.xml.rels" ContentType="application/vnd.openxmlformats-package.relationships+xml"/>
  <Override PartName="/ppt/slideLayouts/_rels/slideLayout4.xml.rels" ContentType="application/vnd.openxmlformats-package.relationships+xml"/>
  <Override PartName="/ppt/slideLayouts/_rels/slideLayout12.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7.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13.xml" ContentType="application/vnd.openxmlformats-officedocument.presentationml.slideLayout+xml"/>
  <Override PartName="/ppt/slides/_rels/slide7.xml.rels" ContentType="application/vnd.openxmlformats-package.relationships+xml"/>
  <Override PartName="/ppt/slides/_rels/slide24.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6.xml.rels" ContentType="application/vnd.openxmlformats-package.relationships+xml"/>
  <Override PartName="/ppt/slides/_rels/slide23.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1.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25.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9" r:id="rId6"/>
    <p:sldMasterId id="2147483661" r:id="rId7"/>
    <p:sldMasterId id="2147483663" r:id="rId8"/>
    <p:sldMasterId id="2147483665" r:id="rId9"/>
    <p:sldMasterId id="2147483667" r:id="rId10"/>
    <p:sldMasterId id="2147483669" r:id="rId11"/>
    <p:sldMasterId id="2147483671"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838080" y="797400"/>
            <a:ext cx="10515240" cy="74772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9" name="PlaceHolder 2"/>
          <p:cNvSpPr>
            <a:spLocks noGrp="1"/>
          </p:cNvSpPr>
          <p:nvPr>
            <p:ph type="subTitle"/>
          </p:nvPr>
        </p:nvSpPr>
        <p:spPr>
          <a:xfrm>
            <a:off x="838080" y="1706040"/>
            <a:ext cx="10515240" cy="4990680"/>
          </a:xfrm>
          <a:prstGeom prst="rect">
            <a:avLst/>
          </a:prstGeom>
          <a:noFill/>
          <a:ln w="0">
            <a:noFill/>
          </a:ln>
        </p:spPr>
        <p:txBody>
          <a:bodyPr lIns="0" rIns="0" tIns="0" bIns="0" anchor="ctr">
            <a:noAutofit/>
          </a:bodyPr>
          <a:p>
            <a:pPr indent="0" algn="ctr">
              <a:buNone/>
            </a:pPr>
            <a:endParaRPr b="0" lang="en-US" sz="3200" strike="noStrike" u="none">
              <a:solidFill>
                <a:srgbClr val="000000"/>
              </a:solidFill>
              <a:uFillTx/>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13514BB9-74EE-4A0E-80D5-D0F96CF3B045}"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CF1F13ED-AC5A-4759-BE9E-64DDD5569521}"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03A671D0-999A-46B7-9924-073046A39A61}"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itle and Content">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Content">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797400"/>
            <a:ext cx="10515240" cy="74772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29" name="PlaceHolder 2"/>
          <p:cNvSpPr>
            <a:spLocks noGrp="1"/>
          </p:cNvSpPr>
          <p:nvPr>
            <p:ph type="subTitle"/>
          </p:nvPr>
        </p:nvSpPr>
        <p:spPr>
          <a:xfrm>
            <a:off x="838080" y="1706040"/>
            <a:ext cx="10515240" cy="4990680"/>
          </a:xfrm>
          <a:prstGeom prst="rect">
            <a:avLst/>
          </a:prstGeom>
          <a:noFill/>
          <a:ln w="0">
            <a:noFill/>
          </a:ln>
        </p:spPr>
        <p:txBody>
          <a:bodyPr lIns="0" rIns="0" tIns="0" bIns="0" anchor="ctr">
            <a:noAutofit/>
          </a:bodyPr>
          <a:p>
            <a:pPr indent="0" algn="ctr">
              <a:buNone/>
            </a:pPr>
            <a:endParaRPr b="0" lang="en-US" sz="3200" strike="noStrike" u="none">
              <a:solidFill>
                <a:srgbClr val="000000"/>
              </a:solidFill>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838080" y="797400"/>
            <a:ext cx="10515240" cy="74772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1" name="PlaceHolder 2"/>
          <p:cNvSpPr>
            <a:spLocks noGrp="1"/>
          </p:cNvSpPr>
          <p:nvPr>
            <p:ph/>
          </p:nvPr>
        </p:nvSpPr>
        <p:spPr>
          <a:xfrm>
            <a:off x="838080" y="1706040"/>
            <a:ext cx="10515240" cy="49906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p>
            <a:r>
              <a:t>Footer</a:t>
            </a:r>
          </a:p>
        </p:txBody>
      </p:sp>
      <p:sp>
        <p:nvSpPr>
          <p:cNvPr id="3" name="PlaceHolder 2"/>
          <p:cNvSpPr>
            <a:spLocks noGrp="1"/>
          </p:cNvSpPr>
          <p:nvPr>
            <p:ph type="sldNum" idx="12"/>
          </p:nvPr>
        </p:nvSpPr>
        <p:spPr/>
        <p:txBody>
          <a:bodyPr/>
          <a:p>
            <a:fld id="{E86A8A66-397D-4319-9D87-D822116D695D}" type="slidenum">
              <a:t>&lt;#&gt;</a:t>
            </a:fld>
          </a:p>
        </p:txBody>
      </p:sp>
      <p:sp>
        <p:nvSpPr>
          <p:cNvPr id="4" name="PlaceHolder 3"/>
          <p:cNvSpPr>
            <a:spLocks noGrp="1"/>
          </p:cNvSpPr>
          <p:nvPr>
            <p:ph type="dt" idx="10"/>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ntent">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B32668C7-1A44-4AA5-881A-C63C9B8E1A3B}"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p>
            <a:r>
              <a:t>Footer</a:t>
            </a:r>
          </a:p>
        </p:txBody>
      </p:sp>
      <p:sp>
        <p:nvSpPr>
          <p:cNvPr id="3" name="PlaceHolder 2"/>
          <p:cNvSpPr>
            <a:spLocks noGrp="1"/>
          </p:cNvSpPr>
          <p:nvPr>
            <p:ph type="sldNum" idx="18"/>
          </p:nvPr>
        </p:nvSpPr>
        <p:spPr/>
        <p:txBody>
          <a:bodyPr/>
          <a:p>
            <a:fld id="{86A388A6-23BD-45C4-BE0A-AD03404AE4AD}" type="slidenum">
              <a:t>&lt;#&gt;</a:t>
            </a:fld>
          </a:p>
        </p:txBody>
      </p:sp>
      <p:sp>
        <p:nvSpPr>
          <p:cNvPr id="4" name="PlaceHolder 3"/>
          <p:cNvSpPr>
            <a:spLocks noGrp="1"/>
          </p:cNvSpPr>
          <p:nvPr>
            <p:ph type="dt" idx="16"/>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797400"/>
            <a:ext cx="10515240" cy="74772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 name="PlaceHolder 2"/>
          <p:cNvSpPr>
            <a:spLocks noGrp="1"/>
          </p:cNvSpPr>
          <p:nvPr>
            <p:ph type="ftr" idx="20"/>
          </p:nvPr>
        </p:nvSpPr>
        <p:spPr/>
        <p:txBody>
          <a:bodyPr/>
          <a:p>
            <a:r>
              <a:t>Footer</a:t>
            </a:r>
          </a:p>
        </p:txBody>
      </p:sp>
      <p:sp>
        <p:nvSpPr>
          <p:cNvPr id="4" name="PlaceHolder 3"/>
          <p:cNvSpPr>
            <a:spLocks noGrp="1"/>
          </p:cNvSpPr>
          <p:nvPr>
            <p:ph type="sldNum" idx="21"/>
          </p:nvPr>
        </p:nvSpPr>
        <p:spPr/>
        <p:txBody>
          <a:bodyPr/>
          <a:p>
            <a:fld id="{B759A08C-B1E4-4A3C-8F97-15CD6D8F2238}" type="slidenum">
              <a:t>&lt;#&gt;</a:t>
            </a:fld>
          </a:p>
        </p:txBody>
      </p:sp>
      <p:sp>
        <p:nvSpPr>
          <p:cNvPr id="5" name="PlaceHolder 4"/>
          <p:cNvSpPr>
            <a:spLocks noGrp="1"/>
          </p:cNvSpPr>
          <p:nvPr>
            <p:ph type="dt" idx="19"/>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p>
            <a:r>
              <a:t>Footer</a:t>
            </a:r>
          </a:p>
        </p:txBody>
      </p:sp>
      <p:sp>
        <p:nvSpPr>
          <p:cNvPr id="3" name="PlaceHolder 2"/>
          <p:cNvSpPr>
            <a:spLocks noGrp="1"/>
          </p:cNvSpPr>
          <p:nvPr>
            <p:ph type="sldNum" idx="24"/>
          </p:nvPr>
        </p:nvSpPr>
        <p:spPr/>
        <p:txBody>
          <a:bodyPr/>
          <a:p>
            <a:fld id="{79BA75F0-FBA7-4AEF-8BB9-EEC51CD8D3A8}" type="slidenum">
              <a:t>&lt;#&gt;</a:t>
            </a:fld>
          </a:p>
        </p:txBody>
      </p:sp>
      <p:sp>
        <p:nvSpPr>
          <p:cNvPr id="4" name="PlaceHolder 3"/>
          <p:cNvSpPr>
            <a:spLocks noGrp="1"/>
          </p:cNvSpPr>
          <p:nvPr>
            <p:ph type="dt" idx="22"/>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EF4252DE-7067-49E6-B0C1-4A5D7688DE72}"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061E8DEC-0AA9-4C64-B8F7-714ED134F814}" type="slidenum">
              <a:t>&lt;#&gt;</a:t>
            </a:fld>
          </a:p>
        </p:txBody>
      </p:sp>
      <p:sp>
        <p:nvSpPr>
          <p:cNvPr id="4" name="PlaceHolder 3"/>
          <p:cNvSpPr>
            <a:spLocks noGrp="1"/>
          </p:cNvSpPr>
          <p:nvPr>
            <p:ph type="dt" idx="28"/>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2.jpeg"/><Relationship Id="rId7" Type="http://schemas.openxmlformats.org/officeDocument/2006/relationships/slideLayout" Target="../slideLayouts/slideLayout8.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9.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10.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11.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12.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13.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slideLayout" Target="../slideLayouts/slideLayout1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Picture 6" descr=""/>
          <p:cNvPicPr/>
          <p:nvPr/>
        </p:nvPicPr>
        <p:blipFill>
          <a:blip r:embed="rId2"/>
          <a:stretch/>
        </p:blipFill>
        <p:spPr>
          <a:xfrm>
            <a:off x="11700000" y="103680"/>
            <a:ext cx="402840" cy="570240"/>
          </a:xfrm>
          <a:prstGeom prst="rect">
            <a:avLst/>
          </a:prstGeom>
          <a:noFill/>
          <a:ln w="0">
            <a:noFill/>
          </a:ln>
        </p:spPr>
      </p:pic>
      <p:pic>
        <p:nvPicPr>
          <p:cNvPr id="1"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2"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trike="noStrike" u="none">
                <a:solidFill>
                  <a:schemeClr val="dk1"/>
                </a:solidFill>
                <a:uFillTx/>
                <a:latin typeface="Calibri Light"/>
              </a:rPr>
              <a:t>Cl</a:t>
            </a:r>
            <a:r>
              <a:rPr b="0" lang="en-US" sz="6000" strike="noStrike" u="none">
                <a:solidFill>
                  <a:schemeClr val="dk1"/>
                </a:solidFill>
                <a:uFillTx/>
                <a:latin typeface="Calibri Light"/>
              </a:rPr>
              <a:t>ic</a:t>
            </a:r>
            <a:r>
              <a:rPr b="0" lang="en-US" sz="6000" strike="noStrike" u="none">
                <a:solidFill>
                  <a:schemeClr val="dk1"/>
                </a:solidFill>
                <a:uFillTx/>
                <a:latin typeface="Calibri Light"/>
              </a:rPr>
              <a:t>k </a:t>
            </a:r>
            <a:r>
              <a:rPr b="0" lang="en-US" sz="6000" strike="noStrike" u="none">
                <a:solidFill>
                  <a:schemeClr val="dk1"/>
                </a:solidFill>
                <a:uFillTx/>
                <a:latin typeface="Calibri Light"/>
              </a:rPr>
              <a:t>to </a:t>
            </a:r>
            <a:r>
              <a:rPr b="0" lang="en-US" sz="6000" strike="noStrike" u="none">
                <a:solidFill>
                  <a:schemeClr val="dk1"/>
                </a:solidFill>
                <a:uFillTx/>
                <a:latin typeface="Calibri Light"/>
              </a:rPr>
              <a:t>e</a:t>
            </a:r>
            <a:r>
              <a:rPr b="0" lang="en-US" sz="6000" strike="noStrike" u="none">
                <a:solidFill>
                  <a:schemeClr val="dk1"/>
                </a:solidFill>
                <a:uFillTx/>
                <a:latin typeface="Calibri Light"/>
              </a:rPr>
              <a:t>di</a:t>
            </a:r>
            <a:r>
              <a:rPr b="0" lang="en-US" sz="6000" strike="noStrike" u="none">
                <a:solidFill>
                  <a:schemeClr val="dk1"/>
                </a:solidFill>
                <a:uFillTx/>
                <a:latin typeface="Calibri Light"/>
              </a:rPr>
              <a:t>t </a:t>
            </a:r>
            <a:r>
              <a:rPr b="0" lang="en-US" sz="6000" strike="noStrike" u="none">
                <a:solidFill>
                  <a:schemeClr val="dk1"/>
                </a:solidFill>
                <a:uFillTx/>
                <a:latin typeface="Calibri Light"/>
              </a:rPr>
              <a:t>M</a:t>
            </a:r>
            <a:r>
              <a:rPr b="0" lang="en-US" sz="6000" strike="noStrike" u="none">
                <a:solidFill>
                  <a:schemeClr val="dk1"/>
                </a:solidFill>
                <a:uFillTx/>
                <a:latin typeface="Calibri Light"/>
              </a:rPr>
              <a:t>a</a:t>
            </a:r>
            <a:r>
              <a:rPr b="0" lang="en-US" sz="6000" strike="noStrike" u="none">
                <a:solidFill>
                  <a:schemeClr val="dk1"/>
                </a:solidFill>
                <a:uFillTx/>
                <a:latin typeface="Calibri Light"/>
              </a:rPr>
              <a:t>st</a:t>
            </a:r>
            <a:r>
              <a:rPr b="0" lang="en-US" sz="6000" strike="noStrike" u="none">
                <a:solidFill>
                  <a:schemeClr val="dk1"/>
                </a:solidFill>
                <a:uFillTx/>
                <a:latin typeface="Calibri Light"/>
              </a:rPr>
              <a:t>e</a:t>
            </a:r>
            <a:r>
              <a:rPr b="0" lang="en-US" sz="6000" strike="noStrike" u="none">
                <a:solidFill>
                  <a:schemeClr val="dk1"/>
                </a:solidFill>
                <a:uFillTx/>
                <a:latin typeface="Calibri Light"/>
              </a:rPr>
              <a:t>r </a:t>
            </a:r>
            <a:r>
              <a:rPr b="0" lang="en-US" sz="6000" strike="noStrike" u="none">
                <a:solidFill>
                  <a:schemeClr val="dk1"/>
                </a:solidFill>
                <a:uFillTx/>
                <a:latin typeface="Calibri Light"/>
              </a:rPr>
              <a:t>ti</a:t>
            </a:r>
            <a:r>
              <a:rPr b="0" lang="en-US" sz="6000" strike="noStrike" u="none">
                <a:solidFill>
                  <a:schemeClr val="dk1"/>
                </a:solidFill>
                <a:uFillTx/>
                <a:latin typeface="Calibri Light"/>
              </a:rPr>
              <a:t>tl</a:t>
            </a:r>
            <a:r>
              <a:rPr b="0" lang="en-US" sz="6000" strike="noStrike" u="none">
                <a:solidFill>
                  <a:schemeClr val="dk1"/>
                </a:solidFill>
                <a:uFillTx/>
                <a:latin typeface="Calibri Light"/>
              </a:rPr>
              <a:t>e </a:t>
            </a:r>
            <a:r>
              <a:rPr b="0" lang="en-US" sz="6000" strike="noStrike" u="none">
                <a:solidFill>
                  <a:schemeClr val="dk1"/>
                </a:solidFill>
                <a:uFillTx/>
                <a:latin typeface="Calibri Light"/>
              </a:rPr>
              <a:t>st</a:t>
            </a:r>
            <a:r>
              <a:rPr b="0" lang="en-US" sz="6000" strike="noStrike" u="none">
                <a:solidFill>
                  <a:schemeClr val="dk1"/>
                </a:solidFill>
                <a:uFillTx/>
                <a:latin typeface="Calibri Light"/>
              </a:rPr>
              <a:t>yl</a:t>
            </a:r>
            <a:r>
              <a:rPr b="0" lang="en-US" sz="6000" strike="noStrike" u="none">
                <a:solidFill>
                  <a:schemeClr val="dk1"/>
                </a:solidFill>
                <a:uFillTx/>
                <a:latin typeface="Calibri Light"/>
              </a:rPr>
              <a:t>e</a:t>
            </a:r>
            <a:endParaRPr b="0" lang="en-US" sz="6000" strike="noStrike" u="none">
              <a:solidFill>
                <a:schemeClr val="dk1"/>
              </a:solidFill>
              <a:uFillTx/>
              <a:latin typeface="Calibri"/>
            </a:endParaRPr>
          </a:p>
        </p:txBody>
      </p:sp>
      <p:sp>
        <p:nvSpPr>
          <p:cNvPr id="3"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4"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5"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224C882F-FDC9-41EE-8168-6531C0034BA1}" type="slidenum">
              <a:rPr b="0" lang="en-US" sz="1200" strike="noStrike" u="none">
                <a:solidFill>
                  <a:schemeClr val="dk1">
                    <a:tint val="75000"/>
                  </a:schemeClr>
                </a:solidFill>
                <a:uFillTx/>
                <a:latin typeface="Calibri"/>
              </a:rPr>
              <a:t>31</a:t>
            </a:fld>
            <a:endParaRPr b="0" lang="en-US" sz="1200" strike="noStrike" u="none">
              <a:solidFill>
                <a:srgbClr val="000000"/>
              </a:solidFill>
              <a:uFillTx/>
              <a:latin typeface="Times New Roman"/>
            </a:endParaRPr>
          </a:p>
        </p:txBody>
      </p:sp>
      <p:pic>
        <p:nvPicPr>
          <p:cNvPr id="6" name="Picture 6" descr=""/>
          <p:cNvPicPr/>
          <p:nvPr/>
        </p:nvPicPr>
        <p:blipFill>
          <a:blip r:embed="rId4"/>
          <a:stretch/>
        </p:blipFill>
        <p:spPr>
          <a:xfrm>
            <a:off x="0" y="136440"/>
            <a:ext cx="2122920" cy="447120"/>
          </a:xfrm>
          <a:prstGeom prst="rect">
            <a:avLst/>
          </a:prstGeom>
          <a:noFill/>
          <a:ln w="0">
            <a:noFill/>
          </a:ln>
        </p:spPr>
      </p:pic>
      <p:sp>
        <p:nvSpPr>
          <p:cNvPr id="7"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uFillTx/>
                <a:latin typeface="Calibri"/>
              </a:rPr>
              <a:t>Click to edit the outline text format</a:t>
            </a:r>
            <a:endParaRPr b="0" lang="en-US"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uFillTx/>
                <a:latin typeface="Calibri"/>
              </a:rPr>
              <a:t>Second Outline Level</a:t>
            </a:r>
            <a:endParaRPr b="0" lang="en-US"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uFillTx/>
                <a:latin typeface="Calibri"/>
              </a:rPr>
              <a:t>Third Outline Level</a:t>
            </a:r>
            <a:endParaRPr b="0" lang="en-US"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uFillTx/>
                <a:latin typeface="Calibri"/>
              </a:rPr>
              <a:t>Fourth Outline Level</a:t>
            </a:r>
            <a:endParaRPr b="0" lang="en-US"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Fifth Outline Level</a:t>
            </a:r>
            <a:endParaRPr b="0" lang="en-US"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Sixth Outline Level</a:t>
            </a:r>
            <a:endParaRPr b="0" lang="en-US"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Seventh Outline Level</a:t>
            </a:r>
            <a:endParaRPr b="0" lang="en-US"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49" r:id="rId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 name="Picture 6" descr=""/>
          <p:cNvPicPr/>
          <p:nvPr/>
        </p:nvPicPr>
        <p:blipFill>
          <a:blip r:embed="rId2"/>
          <a:stretch/>
        </p:blipFill>
        <p:spPr>
          <a:xfrm>
            <a:off x="11700000" y="103680"/>
            <a:ext cx="402840" cy="570240"/>
          </a:xfrm>
          <a:prstGeom prst="rect">
            <a:avLst/>
          </a:prstGeom>
          <a:noFill/>
          <a:ln w="0">
            <a:noFill/>
          </a:ln>
        </p:spPr>
      </p:pic>
      <p:pic>
        <p:nvPicPr>
          <p:cNvPr id="11"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1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trike="noStrike" u="none">
                <a:solidFill>
                  <a:schemeClr val="dk1"/>
                </a:solidFill>
                <a:uFillTx/>
                <a:latin typeface="Calibri Light"/>
              </a:rPr>
              <a:t>Cli</a:t>
            </a:r>
            <a:r>
              <a:rPr b="0" lang="en-US" sz="4400" strike="noStrike" u="none">
                <a:solidFill>
                  <a:schemeClr val="dk1"/>
                </a:solidFill>
                <a:uFillTx/>
                <a:latin typeface="Calibri Light"/>
              </a:rPr>
              <a:t>ck </a:t>
            </a:r>
            <a:r>
              <a:rPr b="0" lang="en-US" sz="4400" strike="noStrike" u="none">
                <a:solidFill>
                  <a:schemeClr val="dk1"/>
                </a:solidFill>
                <a:uFillTx/>
                <a:latin typeface="Calibri Light"/>
              </a:rPr>
              <a:t>to </a:t>
            </a:r>
            <a:r>
              <a:rPr b="0" lang="en-US" sz="4400" strike="noStrike" u="none">
                <a:solidFill>
                  <a:schemeClr val="dk1"/>
                </a:solidFill>
                <a:uFillTx/>
                <a:latin typeface="Calibri Light"/>
              </a:rPr>
              <a:t>ed</a:t>
            </a:r>
            <a:r>
              <a:rPr b="0" lang="en-US" sz="4400" strike="noStrike" u="none">
                <a:solidFill>
                  <a:schemeClr val="dk1"/>
                </a:solidFill>
                <a:uFillTx/>
                <a:latin typeface="Calibri Light"/>
              </a:rPr>
              <a:t>it </a:t>
            </a:r>
            <a:r>
              <a:rPr b="0" lang="en-US" sz="4400" strike="noStrike" u="none">
                <a:solidFill>
                  <a:schemeClr val="dk1"/>
                </a:solidFill>
                <a:uFillTx/>
                <a:latin typeface="Calibri Light"/>
              </a:rPr>
              <a:t>M</a:t>
            </a:r>
            <a:r>
              <a:rPr b="0" lang="en-US" sz="4400" strike="noStrike" u="none">
                <a:solidFill>
                  <a:schemeClr val="dk1"/>
                </a:solidFill>
                <a:uFillTx/>
                <a:latin typeface="Calibri Light"/>
              </a:rPr>
              <a:t>as</a:t>
            </a:r>
            <a:r>
              <a:rPr b="0" lang="en-US" sz="4400" strike="noStrike" u="none">
                <a:solidFill>
                  <a:schemeClr val="dk1"/>
                </a:solidFill>
                <a:uFillTx/>
                <a:latin typeface="Calibri Light"/>
              </a:rPr>
              <a:t>te</a:t>
            </a:r>
            <a:r>
              <a:rPr b="0" lang="en-US" sz="4400" strike="noStrike" u="none">
                <a:solidFill>
                  <a:schemeClr val="dk1"/>
                </a:solidFill>
                <a:uFillTx/>
                <a:latin typeface="Calibri Light"/>
              </a:rPr>
              <a:t>r </a:t>
            </a:r>
            <a:r>
              <a:rPr b="0" lang="en-US" sz="4400" strike="noStrike" u="none">
                <a:solidFill>
                  <a:schemeClr val="dk1"/>
                </a:solidFill>
                <a:uFillTx/>
                <a:latin typeface="Calibri Light"/>
              </a:rPr>
              <a:t>titl</a:t>
            </a:r>
            <a:r>
              <a:rPr b="0" lang="en-US" sz="4400" strike="noStrike" u="none">
                <a:solidFill>
                  <a:schemeClr val="dk1"/>
                </a:solidFill>
                <a:uFillTx/>
                <a:latin typeface="Calibri Light"/>
              </a:rPr>
              <a:t>e </a:t>
            </a:r>
            <a:r>
              <a:rPr b="0" lang="en-US" sz="4400" strike="noStrike" u="none">
                <a:solidFill>
                  <a:schemeClr val="dk1"/>
                </a:solidFill>
                <a:uFillTx/>
                <a:latin typeface="Calibri Light"/>
              </a:rPr>
              <a:t>st</a:t>
            </a:r>
            <a:r>
              <a:rPr b="0" lang="en-US" sz="4400" strike="noStrike" u="none">
                <a:solidFill>
                  <a:schemeClr val="dk1"/>
                </a:solidFill>
                <a:uFillTx/>
                <a:latin typeface="Calibri Light"/>
              </a:rPr>
              <a:t>yl</a:t>
            </a:r>
            <a:r>
              <a:rPr b="0" lang="en-US" sz="4400" strike="noStrike" u="none">
                <a:solidFill>
                  <a:schemeClr val="dk1"/>
                </a:solidFill>
                <a:uFillTx/>
                <a:latin typeface="Calibri Light"/>
              </a:rPr>
              <a:t>e</a:t>
            </a:r>
            <a:endParaRPr b="0" lang="en-US" sz="4400" strike="noStrike" u="none">
              <a:solidFill>
                <a:schemeClr val="dk1"/>
              </a:solidFill>
              <a:uFillTx/>
              <a:latin typeface="Calibri"/>
            </a:endParaRPr>
          </a:p>
        </p:txBody>
      </p:sp>
      <p:sp>
        <p:nvSpPr>
          <p:cNvPr id="13"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a:t>
            </a:r>
            <a:r>
              <a:rPr b="0" lang="en-US" sz="2800" strike="noStrike" u="none">
                <a:solidFill>
                  <a:schemeClr val="dk1"/>
                </a:solidFill>
                <a:uFillTx/>
                <a:latin typeface="Calibri"/>
              </a:rPr>
              <a:t>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a:t>
            </a:r>
            <a:r>
              <a:rPr b="0" lang="en-US" sz="1800" strike="noStrike" u="none">
                <a:solidFill>
                  <a:schemeClr val="dk1"/>
                </a:solidFill>
                <a:uFillTx/>
                <a:latin typeface="Calibri"/>
              </a:rPr>
              <a:t>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a:t>
            </a:r>
            <a:r>
              <a:rPr b="0" lang="en-US" sz="1800" strike="noStrike" u="none">
                <a:solidFill>
                  <a:schemeClr val="dk1"/>
                </a:solidFill>
                <a:uFillTx/>
                <a:latin typeface="Calibri"/>
              </a:rPr>
              <a:t>h </a:t>
            </a:r>
            <a:r>
              <a:rPr b="0" lang="en-US" sz="1800" strike="noStrike" u="none">
                <a:solidFill>
                  <a:schemeClr val="dk1"/>
                </a:solidFill>
                <a:uFillTx/>
                <a:latin typeface="Calibri"/>
              </a:rPr>
              <a:t>leve</a:t>
            </a:r>
            <a:r>
              <a:rPr b="0" lang="en-US" sz="1800" strike="noStrike" u="none">
                <a:solidFill>
                  <a:schemeClr val="dk1"/>
                </a:solidFill>
                <a:uFillTx/>
                <a:latin typeface="Calibri"/>
              </a:rPr>
              <a:t>l</a:t>
            </a:r>
            <a:endParaRPr b="0" lang="en-US" sz="1800" strike="noStrike" u="none">
              <a:solidFill>
                <a:schemeClr val="dk1"/>
              </a:solidFill>
              <a:uFillTx/>
              <a:latin typeface="Calibri"/>
            </a:endParaRPr>
          </a:p>
        </p:txBody>
      </p:sp>
      <p:sp>
        <p:nvSpPr>
          <p:cNvPr id="14"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15"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16"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C69737C1-1DC3-4D65-95AF-9EBD340DF294}" type="slidenum">
              <a:rPr b="0" lang="en-US" sz="1200" strike="noStrike" u="none">
                <a:solidFill>
                  <a:schemeClr val="dk1">
                    <a:tint val="75000"/>
                  </a:schemeClr>
                </a:solidFill>
                <a:uFillTx/>
                <a:latin typeface="Calibri"/>
              </a:rPr>
              <a:t>1</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7" name="Picture 6" descr=""/>
          <p:cNvPicPr/>
          <p:nvPr/>
        </p:nvPicPr>
        <p:blipFill>
          <a:blip r:embed="rId2"/>
          <a:stretch/>
        </p:blipFill>
        <p:spPr>
          <a:xfrm>
            <a:off x="11700000" y="103680"/>
            <a:ext cx="402840" cy="570240"/>
          </a:xfrm>
          <a:prstGeom prst="rect">
            <a:avLst/>
          </a:prstGeom>
          <a:noFill/>
          <a:ln w="0">
            <a:noFill/>
          </a:ln>
        </p:spPr>
      </p:pic>
      <p:pic>
        <p:nvPicPr>
          <p:cNvPr id="18"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19"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trike="noStrike" u="none">
                <a:solidFill>
                  <a:schemeClr val="dk1"/>
                </a:solidFill>
                <a:uFillTx/>
                <a:latin typeface="Calibri Light"/>
              </a:rPr>
              <a:t>C</a:t>
            </a:r>
            <a:r>
              <a:rPr b="0" lang="en-US" sz="4400" strike="noStrike" u="none">
                <a:solidFill>
                  <a:schemeClr val="dk1"/>
                </a:solidFill>
                <a:uFillTx/>
                <a:latin typeface="Calibri Light"/>
              </a:rPr>
              <a:t>li</a:t>
            </a:r>
            <a:r>
              <a:rPr b="0" lang="en-US" sz="4400" strike="noStrike" u="none">
                <a:solidFill>
                  <a:schemeClr val="dk1"/>
                </a:solidFill>
                <a:uFillTx/>
                <a:latin typeface="Calibri Light"/>
              </a:rPr>
              <a:t>c</a:t>
            </a:r>
            <a:r>
              <a:rPr b="0" lang="en-US" sz="4400" strike="noStrike" u="none">
                <a:solidFill>
                  <a:schemeClr val="dk1"/>
                </a:solidFill>
                <a:uFillTx/>
                <a:latin typeface="Calibri Light"/>
              </a:rPr>
              <a:t>k </a:t>
            </a:r>
            <a:r>
              <a:rPr b="0" lang="en-US" sz="4400" strike="noStrike" u="none">
                <a:solidFill>
                  <a:schemeClr val="dk1"/>
                </a:solidFill>
                <a:uFillTx/>
                <a:latin typeface="Calibri Light"/>
              </a:rPr>
              <a:t>t</a:t>
            </a:r>
            <a:r>
              <a:rPr b="0" lang="en-US" sz="4400" strike="noStrike" u="none">
                <a:solidFill>
                  <a:schemeClr val="dk1"/>
                </a:solidFill>
                <a:uFillTx/>
                <a:latin typeface="Calibri Light"/>
              </a:rPr>
              <a:t>o</a:t>
            </a:r>
            <a:r>
              <a:rPr b="0" lang="en-US" sz="4400" strike="noStrike" u="none">
                <a:solidFill>
                  <a:schemeClr val="dk1"/>
                </a:solidFill>
                <a:uFillTx/>
                <a:latin typeface="Calibri Light"/>
              </a:rPr>
              <a:t> </a:t>
            </a:r>
            <a:r>
              <a:rPr b="0" lang="en-US" sz="4400" strike="noStrike" u="none">
                <a:solidFill>
                  <a:schemeClr val="dk1"/>
                </a:solidFill>
                <a:uFillTx/>
                <a:latin typeface="Calibri Light"/>
              </a:rPr>
              <a:t>e</a:t>
            </a:r>
            <a:r>
              <a:rPr b="0" lang="en-US" sz="4400" strike="noStrike" u="none">
                <a:solidFill>
                  <a:schemeClr val="dk1"/>
                </a:solidFill>
                <a:uFillTx/>
                <a:latin typeface="Calibri Light"/>
              </a:rPr>
              <a:t>d</a:t>
            </a:r>
            <a:r>
              <a:rPr b="0" lang="en-US" sz="4400" strike="noStrike" u="none">
                <a:solidFill>
                  <a:schemeClr val="dk1"/>
                </a:solidFill>
                <a:uFillTx/>
                <a:latin typeface="Calibri Light"/>
              </a:rPr>
              <a:t>i</a:t>
            </a:r>
            <a:r>
              <a:rPr b="0" lang="en-US" sz="4400" strike="noStrike" u="none">
                <a:solidFill>
                  <a:schemeClr val="dk1"/>
                </a:solidFill>
                <a:uFillTx/>
                <a:latin typeface="Calibri Light"/>
              </a:rPr>
              <a:t>t </a:t>
            </a:r>
            <a:r>
              <a:rPr b="0" lang="en-US" sz="4400" strike="noStrike" u="none">
                <a:solidFill>
                  <a:schemeClr val="dk1"/>
                </a:solidFill>
                <a:uFillTx/>
                <a:latin typeface="Calibri Light"/>
              </a:rPr>
              <a:t>M</a:t>
            </a:r>
            <a:r>
              <a:rPr b="0" lang="en-US" sz="4400" strike="noStrike" u="none">
                <a:solidFill>
                  <a:schemeClr val="dk1"/>
                </a:solidFill>
                <a:uFillTx/>
                <a:latin typeface="Calibri Light"/>
              </a:rPr>
              <a:t>a</a:t>
            </a:r>
            <a:r>
              <a:rPr b="0" lang="en-US" sz="4400" strike="noStrike" u="none">
                <a:solidFill>
                  <a:schemeClr val="dk1"/>
                </a:solidFill>
                <a:uFillTx/>
                <a:latin typeface="Calibri Light"/>
              </a:rPr>
              <a:t>s</a:t>
            </a:r>
            <a:r>
              <a:rPr b="0" lang="en-US" sz="4400" strike="noStrike" u="none">
                <a:solidFill>
                  <a:schemeClr val="dk1"/>
                </a:solidFill>
                <a:uFillTx/>
                <a:latin typeface="Calibri Light"/>
              </a:rPr>
              <a:t>t</a:t>
            </a:r>
            <a:r>
              <a:rPr b="0" lang="en-US" sz="4400" strike="noStrike" u="none">
                <a:solidFill>
                  <a:schemeClr val="dk1"/>
                </a:solidFill>
                <a:uFillTx/>
                <a:latin typeface="Calibri Light"/>
              </a:rPr>
              <a:t>e</a:t>
            </a:r>
            <a:r>
              <a:rPr b="0" lang="en-US" sz="4400" strike="noStrike" u="none">
                <a:solidFill>
                  <a:schemeClr val="dk1"/>
                </a:solidFill>
                <a:uFillTx/>
                <a:latin typeface="Calibri Light"/>
              </a:rPr>
              <a:t>r </a:t>
            </a:r>
            <a:r>
              <a:rPr b="0" lang="en-US" sz="4400" strike="noStrike" u="none">
                <a:solidFill>
                  <a:schemeClr val="dk1"/>
                </a:solidFill>
                <a:uFillTx/>
                <a:latin typeface="Calibri Light"/>
              </a:rPr>
              <a:t>t</a:t>
            </a:r>
            <a:r>
              <a:rPr b="0" lang="en-US" sz="4400" strike="noStrike" u="none">
                <a:solidFill>
                  <a:schemeClr val="dk1"/>
                </a:solidFill>
                <a:uFillTx/>
                <a:latin typeface="Calibri Light"/>
              </a:rPr>
              <a:t>i</a:t>
            </a:r>
            <a:r>
              <a:rPr b="0" lang="en-US" sz="4400" strike="noStrike" u="none">
                <a:solidFill>
                  <a:schemeClr val="dk1"/>
                </a:solidFill>
                <a:uFillTx/>
                <a:latin typeface="Calibri Light"/>
              </a:rPr>
              <a:t>t</a:t>
            </a:r>
            <a:r>
              <a:rPr b="0" lang="en-US" sz="4400" strike="noStrike" u="none">
                <a:solidFill>
                  <a:schemeClr val="dk1"/>
                </a:solidFill>
                <a:uFillTx/>
                <a:latin typeface="Calibri Light"/>
              </a:rPr>
              <a:t>l</a:t>
            </a:r>
            <a:r>
              <a:rPr b="0" lang="en-US" sz="4400" strike="noStrike" u="none">
                <a:solidFill>
                  <a:schemeClr val="dk1"/>
                </a:solidFill>
                <a:uFillTx/>
                <a:latin typeface="Calibri Light"/>
              </a:rPr>
              <a:t>e</a:t>
            </a:r>
            <a:r>
              <a:rPr b="0" lang="en-US" sz="4400" strike="noStrike" u="none">
                <a:solidFill>
                  <a:schemeClr val="dk1"/>
                </a:solidFill>
                <a:uFillTx/>
                <a:latin typeface="Calibri Light"/>
              </a:rPr>
              <a:t> </a:t>
            </a:r>
            <a:r>
              <a:rPr b="0" lang="en-US" sz="4400" strike="noStrike" u="none">
                <a:solidFill>
                  <a:schemeClr val="dk1"/>
                </a:solidFill>
                <a:uFillTx/>
                <a:latin typeface="Calibri Light"/>
              </a:rPr>
              <a:t>s</a:t>
            </a:r>
            <a:r>
              <a:rPr b="0" lang="en-US" sz="4400" strike="noStrike" u="none">
                <a:solidFill>
                  <a:schemeClr val="dk1"/>
                </a:solidFill>
                <a:uFillTx/>
                <a:latin typeface="Calibri Light"/>
              </a:rPr>
              <a:t>t</a:t>
            </a:r>
            <a:r>
              <a:rPr b="0" lang="en-US" sz="4400" strike="noStrike" u="none">
                <a:solidFill>
                  <a:schemeClr val="dk1"/>
                </a:solidFill>
                <a:uFillTx/>
                <a:latin typeface="Calibri Light"/>
              </a:rPr>
              <a:t>y</a:t>
            </a:r>
            <a:r>
              <a:rPr b="0" lang="en-US" sz="4400" strike="noStrike" u="none">
                <a:solidFill>
                  <a:schemeClr val="dk1"/>
                </a:solidFill>
                <a:uFillTx/>
                <a:latin typeface="Calibri Light"/>
              </a:rPr>
              <a:t>l</a:t>
            </a:r>
            <a:r>
              <a:rPr b="0" lang="en-US" sz="4400" strike="noStrike" u="none">
                <a:solidFill>
                  <a:schemeClr val="dk1"/>
                </a:solidFill>
                <a:uFillTx/>
                <a:latin typeface="Calibri Light"/>
              </a:rPr>
              <a:t>e</a:t>
            </a:r>
            <a:endParaRPr b="0" lang="en-US" sz="4400" strike="noStrike" u="none">
              <a:solidFill>
                <a:schemeClr val="dk1"/>
              </a:solidFill>
              <a:uFillTx/>
              <a:latin typeface="Calibri"/>
            </a:endParaRPr>
          </a:p>
        </p:txBody>
      </p:sp>
      <p:sp>
        <p:nvSpPr>
          <p:cNvPr id="20"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21"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22"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23"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D54B7059-2DF9-4D90-AEAF-5D14595355E1}" type="slidenum">
              <a:rPr b="0" lang="en-US" sz="1200" strike="noStrike" u="none">
                <a:solidFill>
                  <a:schemeClr val="dk1">
                    <a:tint val="75000"/>
                  </a:schemeClr>
                </a:solidFill>
                <a:uFillTx/>
                <a:latin typeface="Calibri"/>
              </a:rPr>
              <a:t>1</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 name="Picture 6" descr=""/>
          <p:cNvPicPr/>
          <p:nvPr/>
        </p:nvPicPr>
        <p:blipFill>
          <a:blip r:embed="rId2"/>
          <a:stretch/>
        </p:blipFill>
        <p:spPr>
          <a:xfrm>
            <a:off x="11700000" y="103680"/>
            <a:ext cx="402840" cy="570240"/>
          </a:xfrm>
          <a:prstGeom prst="rect">
            <a:avLst/>
          </a:prstGeom>
          <a:noFill/>
          <a:ln w="0">
            <a:noFill/>
          </a:ln>
        </p:spPr>
      </p:pic>
      <p:pic>
        <p:nvPicPr>
          <p:cNvPr id="25"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26"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Click </a:t>
            </a:r>
            <a:r>
              <a:rPr b="0" lang="en-US" sz="2800" strike="noStrike" u="none">
                <a:solidFill>
                  <a:schemeClr val="lt1"/>
                </a:solidFill>
                <a:uFillTx/>
                <a:latin typeface="Calibri Light"/>
              </a:rPr>
              <a:t>to </a:t>
            </a:r>
            <a:r>
              <a:rPr b="0" lang="en-US" sz="2800" strike="noStrike" u="none">
                <a:solidFill>
                  <a:schemeClr val="lt1"/>
                </a:solidFill>
                <a:uFillTx/>
                <a:latin typeface="Calibri Light"/>
              </a:rPr>
              <a:t>edit </a:t>
            </a:r>
            <a:r>
              <a:rPr b="0" lang="en-US" sz="2800" strike="noStrike" u="none">
                <a:solidFill>
                  <a:schemeClr val="lt1"/>
                </a:solidFill>
                <a:uFillTx/>
                <a:latin typeface="Calibri Light"/>
              </a:rPr>
              <a:t>Mast</a:t>
            </a:r>
            <a:r>
              <a:rPr b="0" lang="en-US" sz="2800" strike="noStrike" u="none">
                <a:solidFill>
                  <a:schemeClr val="lt1"/>
                </a:solidFill>
                <a:uFillTx/>
                <a:latin typeface="Calibri Light"/>
              </a:rPr>
              <a:t>er </a:t>
            </a:r>
            <a:r>
              <a:rPr b="0" lang="en-US" sz="2800" strike="noStrike" u="none">
                <a:solidFill>
                  <a:schemeClr val="lt1"/>
                </a:solidFill>
                <a:uFillTx/>
                <a:latin typeface="Calibri Light"/>
              </a:rPr>
              <a:t>title </a:t>
            </a:r>
            <a:r>
              <a:rPr b="0" lang="en-US" sz="2800" strike="noStrike" u="none">
                <a:solidFill>
                  <a:schemeClr val="lt1"/>
                </a:solidFill>
                <a:uFillTx/>
                <a:latin typeface="Calibri Light"/>
              </a:rPr>
              <a:t>style</a:t>
            </a:r>
            <a:endParaRPr b="0" lang="en-US" sz="2800" strike="noStrike" u="none">
              <a:solidFill>
                <a:schemeClr val="dk1"/>
              </a:solidFill>
              <a:uFillTx/>
              <a:latin typeface="Calibri"/>
            </a:endParaRPr>
          </a:p>
        </p:txBody>
      </p:sp>
      <p:sp>
        <p:nvSpPr>
          <p:cNvPr id="27" name="PlaceHolder 2"/>
          <p:cNvSpPr>
            <a:spLocks noGrp="1"/>
          </p:cNvSpPr>
          <p:nvPr>
            <p:ph type="body"/>
          </p:nvPr>
        </p:nvSpPr>
        <p:spPr>
          <a:xfrm>
            <a:off x="838080" y="1706040"/>
            <a:ext cx="10515240" cy="49906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Second level</a:t>
            </a:r>
            <a:endParaRPr b="0" lang="en-US" sz="20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Third level</a:t>
            </a:r>
            <a:endParaRPr b="0" lang="en-US" sz="18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600" strike="noStrike" u="none">
                <a:solidFill>
                  <a:schemeClr val="dk1"/>
                </a:solidFill>
                <a:uFillTx/>
                <a:latin typeface="Calibri"/>
              </a:rPr>
              <a:t>Fourth level</a:t>
            </a:r>
            <a:endParaRPr b="0" lang="en-US" sz="16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600" strike="noStrike" u="none">
                <a:solidFill>
                  <a:schemeClr val="dk1"/>
                </a:solidFill>
                <a:uFillTx/>
                <a:latin typeface="Calibri"/>
              </a:rPr>
              <a:t>Fifth level</a:t>
            </a:r>
            <a:endParaRPr b="0" lang="en-US" sz="16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55" r:id="rId4"/>
    <p:sldLayoutId id="2147483656" r:id="rId5"/>
    <p:sldLayoutId id="2147483657" r:id="rId6"/>
    <p:sldLayoutId id="2147483658" r:id="rId7"/>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2" name="Picture 6" descr=""/>
          <p:cNvPicPr/>
          <p:nvPr/>
        </p:nvPicPr>
        <p:blipFill>
          <a:blip r:embed="rId2"/>
          <a:stretch/>
        </p:blipFill>
        <p:spPr>
          <a:xfrm>
            <a:off x="11700000" y="103680"/>
            <a:ext cx="402840" cy="570240"/>
          </a:xfrm>
          <a:prstGeom prst="rect">
            <a:avLst/>
          </a:prstGeom>
          <a:noFill/>
          <a:ln w="0">
            <a:noFill/>
          </a:ln>
        </p:spPr>
      </p:pic>
      <p:pic>
        <p:nvPicPr>
          <p:cNvPr id="33"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34" name="PlaceHolder 1"/>
          <p:cNvSpPr>
            <a:spLocks noGrp="1"/>
          </p:cNvSpPr>
          <p:nvPr>
            <p:ph type="title"/>
          </p:nvPr>
        </p:nvSpPr>
        <p:spPr>
          <a:xfrm>
            <a:off x="831960" y="3429000"/>
            <a:ext cx="10515240" cy="1410120"/>
          </a:xfrm>
          <a:prstGeom prst="rect">
            <a:avLst/>
          </a:prstGeom>
          <a:noFill/>
          <a:ln w="0">
            <a:noFill/>
          </a:ln>
        </p:spPr>
        <p:txBody>
          <a:bodyPr lIns="91440" rIns="91440" tIns="45720" bIns="45720" anchor="b">
            <a:noAutofit/>
          </a:bodyPr>
          <a:p>
            <a:pPr indent="0" defTabSz="914400">
              <a:lnSpc>
                <a:spcPct val="90000"/>
              </a:lnSpc>
              <a:buNone/>
            </a:pPr>
            <a:r>
              <a:rPr b="0" lang="en-US" sz="6000" strike="noStrike" u="none">
                <a:solidFill>
                  <a:schemeClr val="dk1"/>
                </a:solidFill>
                <a:uFillTx/>
                <a:latin typeface="Calibri Light"/>
              </a:rPr>
              <a:t>Cl</a:t>
            </a:r>
            <a:r>
              <a:rPr b="0" lang="en-US" sz="6000" strike="noStrike" u="none">
                <a:solidFill>
                  <a:schemeClr val="dk1"/>
                </a:solidFill>
                <a:uFillTx/>
                <a:latin typeface="Calibri Light"/>
              </a:rPr>
              <a:t>ic</a:t>
            </a:r>
            <a:r>
              <a:rPr b="0" lang="en-US" sz="6000" strike="noStrike" u="none">
                <a:solidFill>
                  <a:schemeClr val="dk1"/>
                </a:solidFill>
                <a:uFillTx/>
                <a:latin typeface="Calibri Light"/>
              </a:rPr>
              <a:t>k </a:t>
            </a:r>
            <a:r>
              <a:rPr b="0" lang="en-US" sz="6000" strike="noStrike" u="none">
                <a:solidFill>
                  <a:schemeClr val="dk1"/>
                </a:solidFill>
                <a:uFillTx/>
                <a:latin typeface="Calibri Light"/>
              </a:rPr>
              <a:t>to </a:t>
            </a:r>
            <a:r>
              <a:rPr b="0" lang="en-US" sz="6000" strike="noStrike" u="none">
                <a:solidFill>
                  <a:schemeClr val="dk1"/>
                </a:solidFill>
                <a:uFillTx/>
                <a:latin typeface="Calibri Light"/>
              </a:rPr>
              <a:t>e</a:t>
            </a:r>
            <a:r>
              <a:rPr b="0" lang="en-US" sz="6000" strike="noStrike" u="none">
                <a:solidFill>
                  <a:schemeClr val="dk1"/>
                </a:solidFill>
                <a:uFillTx/>
                <a:latin typeface="Calibri Light"/>
              </a:rPr>
              <a:t>di</a:t>
            </a:r>
            <a:r>
              <a:rPr b="0" lang="en-US" sz="6000" strike="noStrike" u="none">
                <a:solidFill>
                  <a:schemeClr val="dk1"/>
                </a:solidFill>
                <a:uFillTx/>
                <a:latin typeface="Calibri Light"/>
              </a:rPr>
              <a:t>t </a:t>
            </a:r>
            <a:r>
              <a:rPr b="0" lang="en-US" sz="6000" strike="noStrike" u="none">
                <a:solidFill>
                  <a:schemeClr val="dk1"/>
                </a:solidFill>
                <a:uFillTx/>
                <a:latin typeface="Calibri Light"/>
              </a:rPr>
              <a:t>M</a:t>
            </a:r>
            <a:r>
              <a:rPr b="0" lang="en-US" sz="6000" strike="noStrike" u="none">
                <a:solidFill>
                  <a:schemeClr val="dk1"/>
                </a:solidFill>
                <a:uFillTx/>
                <a:latin typeface="Calibri Light"/>
              </a:rPr>
              <a:t>as</a:t>
            </a:r>
            <a:r>
              <a:rPr b="0" lang="en-US" sz="6000" strike="noStrike" u="none">
                <a:solidFill>
                  <a:schemeClr val="dk1"/>
                </a:solidFill>
                <a:uFillTx/>
                <a:latin typeface="Calibri Light"/>
              </a:rPr>
              <a:t>te</a:t>
            </a:r>
            <a:r>
              <a:rPr b="0" lang="en-US" sz="6000" strike="noStrike" u="none">
                <a:solidFill>
                  <a:schemeClr val="dk1"/>
                </a:solidFill>
                <a:uFillTx/>
                <a:latin typeface="Calibri Light"/>
              </a:rPr>
              <a:t>r </a:t>
            </a:r>
            <a:r>
              <a:rPr b="0" lang="en-US" sz="6000" strike="noStrike" u="none">
                <a:solidFill>
                  <a:schemeClr val="dk1"/>
                </a:solidFill>
                <a:uFillTx/>
                <a:latin typeface="Calibri Light"/>
              </a:rPr>
              <a:t>tit</a:t>
            </a:r>
            <a:r>
              <a:rPr b="0" lang="en-US" sz="6000" strike="noStrike" u="none">
                <a:solidFill>
                  <a:schemeClr val="dk1"/>
                </a:solidFill>
                <a:uFillTx/>
                <a:latin typeface="Calibri Light"/>
              </a:rPr>
              <a:t>le </a:t>
            </a:r>
            <a:r>
              <a:rPr b="0" lang="en-US" sz="6000" strike="noStrike" u="none">
                <a:solidFill>
                  <a:schemeClr val="dk1"/>
                </a:solidFill>
                <a:uFillTx/>
                <a:latin typeface="Calibri Light"/>
              </a:rPr>
              <a:t>st</a:t>
            </a:r>
            <a:r>
              <a:rPr b="0" lang="en-US" sz="6000" strike="noStrike" u="none">
                <a:solidFill>
                  <a:schemeClr val="dk1"/>
                </a:solidFill>
                <a:uFillTx/>
                <a:latin typeface="Calibri Light"/>
              </a:rPr>
              <a:t>yl</a:t>
            </a:r>
            <a:r>
              <a:rPr b="0" lang="en-US" sz="6000" strike="noStrike" u="none">
                <a:solidFill>
                  <a:schemeClr val="dk1"/>
                </a:solidFill>
                <a:uFillTx/>
                <a:latin typeface="Calibri Light"/>
              </a:rPr>
              <a:t>e</a:t>
            </a:r>
            <a:endParaRPr b="0" lang="en-US" sz="6000" strike="noStrike" u="none">
              <a:solidFill>
                <a:schemeClr val="dk1"/>
              </a:solidFill>
              <a:uFillTx/>
              <a:latin typeface="Calibri"/>
            </a:endParaRPr>
          </a:p>
        </p:txBody>
      </p:sp>
      <p:sp>
        <p:nvSpPr>
          <p:cNvPr id="35" name="PlaceHolder 2"/>
          <p:cNvSpPr>
            <a:spLocks noGrp="1"/>
          </p:cNvSpPr>
          <p:nvPr>
            <p:ph type="body"/>
          </p:nvPr>
        </p:nvSpPr>
        <p:spPr>
          <a:xfrm>
            <a:off x="831960" y="4956120"/>
            <a:ext cx="10515240" cy="1133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trike="noStrike" u="none">
                <a:solidFill>
                  <a:schemeClr val="dk1">
                    <a:tint val="75000"/>
                  </a:schemeClr>
                </a:solidFill>
                <a:uFillTx/>
                <a:latin typeface="Calibri"/>
              </a:rPr>
              <a:t>Click to edit Master text styles</a:t>
            </a:r>
            <a:endParaRPr b="0" lang="en-US" sz="2400" strike="noStrike" u="none">
              <a:solidFill>
                <a:schemeClr val="dk1"/>
              </a:solidFill>
              <a:uFillTx/>
              <a:latin typeface="Calibri"/>
            </a:endParaRPr>
          </a:p>
        </p:txBody>
      </p:sp>
      <p:sp>
        <p:nvSpPr>
          <p:cNvPr id="36"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37"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38"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E16FF894-504E-4EA9-A24A-4D8ACF93F239}" type="slidenum">
              <a:rPr b="0" lang="en-US" sz="1200" strike="noStrike" u="none">
                <a:solidFill>
                  <a:schemeClr val="dk1">
                    <a:tint val="75000"/>
                  </a:schemeClr>
                </a:solidFill>
                <a:uFillTx/>
                <a:latin typeface="Calibri"/>
              </a:rPr>
              <a:t>1</a:t>
            </a:fld>
            <a:endParaRPr b="0" lang="en-US" sz="1200" strike="noStrike" u="none">
              <a:solidFill>
                <a:srgbClr val="000000"/>
              </a:solidFill>
              <a:uFillTx/>
              <a:latin typeface="Times New Roman"/>
            </a:endParaRPr>
          </a:p>
        </p:txBody>
      </p:sp>
      <p:pic>
        <p:nvPicPr>
          <p:cNvPr id="39" name="Picture 6" descr=""/>
          <p:cNvPicPr/>
          <p:nvPr/>
        </p:nvPicPr>
        <p:blipFill>
          <a:blip r:embed="rId4"/>
          <a:stretch/>
        </p:blipFill>
        <p:spPr>
          <a:xfrm>
            <a:off x="11700000" y="103680"/>
            <a:ext cx="402840" cy="570240"/>
          </a:xfrm>
          <a:prstGeom prst="rect">
            <a:avLst/>
          </a:prstGeom>
          <a:noFill/>
          <a:ln w="0">
            <a:noFill/>
          </a:ln>
        </p:spPr>
      </p:pic>
      <p:pic>
        <p:nvPicPr>
          <p:cNvPr id="40" name="Picture 7" descr=""/>
          <p:cNvPicPr/>
          <p:nvPr/>
        </p:nvPicPr>
        <p:blipFill>
          <a:blip r:embed="rId5"/>
          <a:stretch/>
        </p:blipFill>
        <p:spPr>
          <a:xfrm>
            <a:off x="88920" y="160920"/>
            <a:ext cx="2120400" cy="636120"/>
          </a:xfrm>
          <a:prstGeom prst="rect">
            <a:avLst/>
          </a:prstGeom>
          <a:noFill/>
          <a:ln w="0">
            <a:noFill/>
          </a:ln>
        </p:spPr>
      </p:pic>
      <p:pic>
        <p:nvPicPr>
          <p:cNvPr id="41" name="Picture 8" descr=""/>
          <p:cNvPicPr/>
          <p:nvPr/>
        </p:nvPicPr>
        <p:blipFill>
          <a:blip r:embed="rId6"/>
          <a:stretch/>
        </p:blipFill>
        <p:spPr>
          <a:xfrm>
            <a:off x="10355400" y="43200"/>
            <a:ext cx="1171080" cy="593640"/>
          </a:xfrm>
          <a:prstGeom prst="rect">
            <a:avLst/>
          </a:prstGeom>
          <a:noFill/>
          <a:ln w="0">
            <a:noFill/>
          </a:ln>
          <a:effectLst>
            <a:softEdge rad="112680"/>
          </a:effectLst>
        </p:spPr>
      </p:pic>
    </p:spTree>
  </p:cSld>
  <p:clrMap bg1="lt1" tx1="dk1" bg2="lt2" tx2="dk2" accent1="accent1" accent2="accent2" accent3="accent3" accent4="accent4" accent5="accent5" accent6="accent6" hlink="hlink" folHlink="folHlink"/>
  <p:sldLayoutIdLst>
    <p:sldLayoutId id="2147483660" r:id="rId7"/>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2" name="Picture 6" descr=""/>
          <p:cNvPicPr/>
          <p:nvPr/>
        </p:nvPicPr>
        <p:blipFill>
          <a:blip r:embed="rId2"/>
          <a:stretch/>
        </p:blipFill>
        <p:spPr>
          <a:xfrm>
            <a:off x="11700000" y="103680"/>
            <a:ext cx="402840" cy="570240"/>
          </a:xfrm>
          <a:prstGeom prst="rect">
            <a:avLst/>
          </a:prstGeom>
          <a:noFill/>
          <a:ln w="0">
            <a:noFill/>
          </a:ln>
        </p:spPr>
      </p:pic>
      <p:pic>
        <p:nvPicPr>
          <p:cNvPr id="43"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4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trike="noStrike" u="none">
                <a:solidFill>
                  <a:schemeClr val="dk1"/>
                </a:solidFill>
                <a:uFillTx/>
                <a:latin typeface="Calibri Light"/>
              </a:rPr>
              <a:t>Cli</a:t>
            </a:r>
            <a:r>
              <a:rPr b="0" lang="en-US" sz="4400" strike="noStrike" u="none">
                <a:solidFill>
                  <a:schemeClr val="dk1"/>
                </a:solidFill>
                <a:uFillTx/>
                <a:latin typeface="Calibri Light"/>
              </a:rPr>
              <a:t>ck </a:t>
            </a:r>
            <a:r>
              <a:rPr b="0" lang="en-US" sz="4400" strike="noStrike" u="none">
                <a:solidFill>
                  <a:schemeClr val="dk1"/>
                </a:solidFill>
                <a:uFillTx/>
                <a:latin typeface="Calibri Light"/>
              </a:rPr>
              <a:t>to </a:t>
            </a:r>
            <a:r>
              <a:rPr b="0" lang="en-US" sz="4400" strike="noStrike" u="none">
                <a:solidFill>
                  <a:schemeClr val="dk1"/>
                </a:solidFill>
                <a:uFillTx/>
                <a:latin typeface="Calibri Light"/>
              </a:rPr>
              <a:t>edi</a:t>
            </a:r>
            <a:r>
              <a:rPr b="0" lang="en-US" sz="4400" strike="noStrike" u="none">
                <a:solidFill>
                  <a:schemeClr val="dk1"/>
                </a:solidFill>
                <a:uFillTx/>
                <a:latin typeface="Calibri Light"/>
              </a:rPr>
              <a:t>t </a:t>
            </a:r>
            <a:r>
              <a:rPr b="0" lang="en-US" sz="4400" strike="noStrike" u="none">
                <a:solidFill>
                  <a:schemeClr val="dk1"/>
                </a:solidFill>
                <a:uFillTx/>
                <a:latin typeface="Calibri Light"/>
              </a:rPr>
              <a:t>Ma</a:t>
            </a:r>
            <a:r>
              <a:rPr b="0" lang="en-US" sz="4400" strike="noStrike" u="none">
                <a:solidFill>
                  <a:schemeClr val="dk1"/>
                </a:solidFill>
                <a:uFillTx/>
                <a:latin typeface="Calibri Light"/>
              </a:rPr>
              <a:t>ste</a:t>
            </a:r>
            <a:r>
              <a:rPr b="0" lang="en-US" sz="4400" strike="noStrike" u="none">
                <a:solidFill>
                  <a:schemeClr val="dk1"/>
                </a:solidFill>
                <a:uFillTx/>
                <a:latin typeface="Calibri Light"/>
              </a:rPr>
              <a:t>r </a:t>
            </a:r>
            <a:r>
              <a:rPr b="0" lang="en-US" sz="4400" strike="noStrike" u="none">
                <a:solidFill>
                  <a:schemeClr val="dk1"/>
                </a:solidFill>
                <a:uFillTx/>
                <a:latin typeface="Calibri Light"/>
              </a:rPr>
              <a:t>titl</a:t>
            </a:r>
            <a:r>
              <a:rPr b="0" lang="en-US" sz="4400" strike="noStrike" u="none">
                <a:solidFill>
                  <a:schemeClr val="dk1"/>
                </a:solidFill>
                <a:uFillTx/>
                <a:latin typeface="Calibri Light"/>
              </a:rPr>
              <a:t>e </a:t>
            </a:r>
            <a:r>
              <a:rPr b="0" lang="en-US" sz="4400" strike="noStrike" u="none">
                <a:solidFill>
                  <a:schemeClr val="dk1"/>
                </a:solidFill>
                <a:uFillTx/>
                <a:latin typeface="Calibri Light"/>
              </a:rPr>
              <a:t>sty</a:t>
            </a:r>
            <a:r>
              <a:rPr b="0" lang="en-US" sz="4400" strike="noStrike" u="none">
                <a:solidFill>
                  <a:schemeClr val="dk1"/>
                </a:solidFill>
                <a:uFillTx/>
                <a:latin typeface="Calibri Light"/>
              </a:rPr>
              <a:t>le</a:t>
            </a:r>
            <a:endParaRPr b="0" lang="en-US" sz="4400" strike="noStrike" u="none">
              <a:solidFill>
                <a:schemeClr val="dk1"/>
              </a:solidFill>
              <a:uFillTx/>
              <a:latin typeface="Calibri"/>
            </a:endParaRPr>
          </a:p>
        </p:txBody>
      </p:sp>
      <p:sp>
        <p:nvSpPr>
          <p:cNvPr id="45"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46"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47" name="PlaceHolder 4"/>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48" name="PlaceHolder 5"/>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49" name="PlaceHolder 6"/>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3DBA1EEA-1B83-4E47-A741-56E52E2F88F5}" type="slidenum">
              <a:rPr b="0" lang="en-US" sz="1200" strike="noStrike" u="none">
                <a:solidFill>
                  <a:schemeClr val="dk1">
                    <a:tint val="75000"/>
                  </a:schemeClr>
                </a:solidFill>
                <a:uFillTx/>
                <a:latin typeface="Calibri"/>
              </a:rPr>
              <a:t>1</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4"/>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0" name="Picture 6" descr=""/>
          <p:cNvPicPr/>
          <p:nvPr/>
        </p:nvPicPr>
        <p:blipFill>
          <a:blip r:embed="rId2"/>
          <a:stretch/>
        </p:blipFill>
        <p:spPr>
          <a:xfrm>
            <a:off x="11700000" y="103680"/>
            <a:ext cx="402840" cy="570240"/>
          </a:xfrm>
          <a:prstGeom prst="rect">
            <a:avLst/>
          </a:prstGeom>
          <a:noFill/>
          <a:ln w="0">
            <a:noFill/>
          </a:ln>
        </p:spPr>
      </p:pic>
      <p:pic>
        <p:nvPicPr>
          <p:cNvPr id="51"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52"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trike="noStrike" u="none">
                <a:solidFill>
                  <a:schemeClr val="dk1"/>
                </a:solidFill>
                <a:uFillTx/>
                <a:latin typeface="Calibri Light"/>
              </a:rPr>
              <a:t>Cli</a:t>
            </a:r>
            <a:r>
              <a:rPr b="0" lang="en-US" sz="4400" strike="noStrike" u="none">
                <a:solidFill>
                  <a:schemeClr val="dk1"/>
                </a:solidFill>
                <a:uFillTx/>
                <a:latin typeface="Calibri Light"/>
              </a:rPr>
              <a:t>ck </a:t>
            </a:r>
            <a:r>
              <a:rPr b="0" lang="en-US" sz="4400" strike="noStrike" u="none">
                <a:solidFill>
                  <a:schemeClr val="dk1"/>
                </a:solidFill>
                <a:uFillTx/>
                <a:latin typeface="Calibri Light"/>
              </a:rPr>
              <a:t>to </a:t>
            </a:r>
            <a:r>
              <a:rPr b="0" lang="en-US" sz="4400" strike="noStrike" u="none">
                <a:solidFill>
                  <a:schemeClr val="dk1"/>
                </a:solidFill>
                <a:uFillTx/>
                <a:latin typeface="Calibri Light"/>
              </a:rPr>
              <a:t>edi</a:t>
            </a:r>
            <a:r>
              <a:rPr b="0" lang="en-US" sz="4400" strike="noStrike" u="none">
                <a:solidFill>
                  <a:schemeClr val="dk1"/>
                </a:solidFill>
                <a:uFillTx/>
                <a:latin typeface="Calibri Light"/>
              </a:rPr>
              <a:t>t </a:t>
            </a:r>
            <a:r>
              <a:rPr b="0" lang="en-US" sz="4400" strike="noStrike" u="none">
                <a:solidFill>
                  <a:schemeClr val="dk1"/>
                </a:solidFill>
                <a:uFillTx/>
                <a:latin typeface="Calibri Light"/>
              </a:rPr>
              <a:t>Ma</a:t>
            </a:r>
            <a:r>
              <a:rPr b="0" lang="en-US" sz="4400" strike="noStrike" u="none">
                <a:solidFill>
                  <a:schemeClr val="dk1"/>
                </a:solidFill>
                <a:uFillTx/>
                <a:latin typeface="Calibri Light"/>
              </a:rPr>
              <a:t>ste</a:t>
            </a:r>
            <a:r>
              <a:rPr b="0" lang="en-US" sz="4400" strike="noStrike" u="none">
                <a:solidFill>
                  <a:schemeClr val="dk1"/>
                </a:solidFill>
                <a:uFillTx/>
                <a:latin typeface="Calibri Light"/>
              </a:rPr>
              <a:t>r </a:t>
            </a:r>
            <a:r>
              <a:rPr b="0" lang="en-US" sz="4400" strike="noStrike" u="none">
                <a:solidFill>
                  <a:schemeClr val="dk1"/>
                </a:solidFill>
                <a:uFillTx/>
                <a:latin typeface="Calibri Light"/>
              </a:rPr>
              <a:t>titl</a:t>
            </a:r>
            <a:r>
              <a:rPr b="0" lang="en-US" sz="4400" strike="noStrike" u="none">
                <a:solidFill>
                  <a:schemeClr val="dk1"/>
                </a:solidFill>
                <a:uFillTx/>
                <a:latin typeface="Calibri Light"/>
              </a:rPr>
              <a:t>e </a:t>
            </a:r>
            <a:r>
              <a:rPr b="0" lang="en-US" sz="4400" strike="noStrike" u="none">
                <a:solidFill>
                  <a:schemeClr val="dk1"/>
                </a:solidFill>
                <a:uFillTx/>
                <a:latin typeface="Calibri Light"/>
              </a:rPr>
              <a:t>sty</a:t>
            </a:r>
            <a:r>
              <a:rPr b="0" lang="en-US" sz="4400" strike="noStrike" u="none">
                <a:solidFill>
                  <a:schemeClr val="dk1"/>
                </a:solidFill>
                <a:uFillTx/>
                <a:latin typeface="Calibri Light"/>
              </a:rPr>
              <a:t>le</a:t>
            </a:r>
            <a:endParaRPr b="0" lang="en-US" sz="4400" strike="noStrike" u="none">
              <a:solidFill>
                <a:schemeClr val="dk1"/>
              </a:solidFill>
              <a:uFillTx/>
              <a:latin typeface="Calibri"/>
            </a:endParaRPr>
          </a:p>
        </p:txBody>
      </p:sp>
      <p:sp>
        <p:nvSpPr>
          <p:cNvPr id="53"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p:txBody>
      </p:sp>
      <p:sp>
        <p:nvSpPr>
          <p:cNvPr id="54"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55"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p:txBody>
      </p:sp>
      <p:sp>
        <p:nvSpPr>
          <p:cNvPr id="56"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57" name="PlaceHolder 6"/>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58" name="PlaceHolder 7"/>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59" name="PlaceHolder 8"/>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F25CD008-F630-4D05-83FB-AE01A7C82E0D}" type="slidenum">
              <a:rPr b="0" lang="en-US" sz="1200" strike="noStrike" u="none">
                <a:solidFill>
                  <a:schemeClr val="dk1">
                    <a:tint val="75000"/>
                  </a:schemeClr>
                </a:solidFill>
                <a:uFillTx/>
                <a:latin typeface="Calibri"/>
              </a:rPr>
              <a:t>1</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4"/>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0" name="Picture 6" descr=""/>
          <p:cNvPicPr/>
          <p:nvPr/>
        </p:nvPicPr>
        <p:blipFill>
          <a:blip r:embed="rId2"/>
          <a:stretch/>
        </p:blipFill>
        <p:spPr>
          <a:xfrm>
            <a:off x="11700000" y="103680"/>
            <a:ext cx="402840" cy="570240"/>
          </a:xfrm>
          <a:prstGeom prst="rect">
            <a:avLst/>
          </a:prstGeom>
          <a:noFill/>
          <a:ln w="0">
            <a:noFill/>
          </a:ln>
        </p:spPr>
      </p:pic>
      <p:pic>
        <p:nvPicPr>
          <p:cNvPr id="61"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6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63" name="PlaceHolder 2"/>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 </a:t>
            </a:r>
            <a:endParaRPr b="0" lang="en-US" sz="1200" strike="noStrike" u="none">
              <a:solidFill>
                <a:srgbClr val="000000"/>
              </a:solidFill>
              <a:uFillTx/>
              <a:latin typeface="Times New Roman"/>
            </a:endParaRPr>
          </a:p>
        </p:txBody>
      </p:sp>
      <p:sp>
        <p:nvSpPr>
          <p:cNvPr id="64" name="PlaceHolder 3"/>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 </a:t>
            </a:r>
            <a:endParaRPr b="0" lang="en-US" sz="1400" strike="noStrike" u="none">
              <a:solidFill>
                <a:srgbClr val="000000"/>
              </a:solidFill>
              <a:uFillTx/>
              <a:latin typeface="Times New Roman"/>
            </a:endParaRPr>
          </a:p>
        </p:txBody>
      </p:sp>
      <p:sp>
        <p:nvSpPr>
          <p:cNvPr id="65" name="PlaceHolder 4"/>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9CDF4172-507E-40BE-8BDE-9EF03D42E16F}" type="slidenum">
              <a:rPr b="0" lang="en-US" sz="1200" strike="noStrike" u="none">
                <a:solidFill>
                  <a:schemeClr val="dk1">
                    <a:tint val="75000"/>
                  </a:schemeClr>
                </a:solidFill>
                <a:uFillTx/>
                <a:latin typeface="Calibri"/>
              </a:rPr>
              <a:t>&lt;number&gt;</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4"/>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7" name="Picture 6" descr=""/>
          <p:cNvPicPr/>
          <p:nvPr/>
        </p:nvPicPr>
        <p:blipFill>
          <a:blip r:embed="rId2"/>
          <a:stretch/>
        </p:blipFill>
        <p:spPr>
          <a:xfrm>
            <a:off x="11700000" y="103680"/>
            <a:ext cx="402840" cy="570240"/>
          </a:xfrm>
          <a:prstGeom prst="rect">
            <a:avLst/>
          </a:prstGeom>
          <a:noFill/>
          <a:ln w="0">
            <a:noFill/>
          </a:ln>
        </p:spPr>
      </p:pic>
      <p:pic>
        <p:nvPicPr>
          <p:cNvPr id="68"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69" name="PlaceHolder 1"/>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&lt;date/time&gt;</a:t>
            </a:r>
            <a:endParaRPr b="0" lang="en-US" sz="1200" strike="noStrike" u="none">
              <a:solidFill>
                <a:srgbClr val="000000"/>
              </a:solidFill>
              <a:uFillTx/>
              <a:latin typeface="Times New Roman"/>
            </a:endParaRPr>
          </a:p>
        </p:txBody>
      </p:sp>
      <p:sp>
        <p:nvSpPr>
          <p:cNvPr id="70" name="PlaceHolder 2"/>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&lt;footer&gt;</a:t>
            </a:r>
            <a:endParaRPr b="0" lang="en-US" sz="1400" strike="noStrike" u="none">
              <a:solidFill>
                <a:srgbClr val="000000"/>
              </a:solidFill>
              <a:uFillTx/>
              <a:latin typeface="Times New Roman"/>
            </a:endParaRPr>
          </a:p>
        </p:txBody>
      </p:sp>
      <p:sp>
        <p:nvSpPr>
          <p:cNvPr id="71" name="PlaceHolder 3"/>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B1156234-54D9-402E-8FFC-8F95850E8B47}" type="slidenum">
              <a:rPr b="0" lang="en-US" sz="1200" strike="noStrike" u="none">
                <a:solidFill>
                  <a:schemeClr val="dk1">
                    <a:tint val="75000"/>
                  </a:schemeClr>
                </a:solidFill>
                <a:uFillTx/>
                <a:latin typeface="Calibri"/>
              </a:rPr>
              <a:t>&lt;number&gt;</a:t>
            </a:fld>
            <a:endParaRPr b="0" lang="en-US" sz="1200" strike="noStrike" u="none">
              <a:solidFill>
                <a:srgbClr val="000000"/>
              </a:solidFill>
              <a:uFillTx/>
              <a:latin typeface="Times New Roman"/>
            </a:endParaRPr>
          </a:p>
        </p:txBody>
      </p:sp>
      <p:sp>
        <p:nvSpPr>
          <p:cNvPr id="72"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uFillTx/>
                <a:latin typeface="Calibri"/>
              </a:rPr>
              <a:t>Click to edit the title text format</a:t>
            </a:r>
            <a:endParaRPr b="0" lang="en-US" sz="1800" strike="noStrike" u="none">
              <a:solidFill>
                <a:schemeClr val="dk1"/>
              </a:solidFill>
              <a:uFillTx/>
              <a:latin typeface="Calibri"/>
            </a:endParaRPr>
          </a:p>
        </p:txBody>
      </p:sp>
      <p:sp>
        <p:nvSpPr>
          <p:cNvPr id="73"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uFillTx/>
                <a:latin typeface="Calibri"/>
              </a:rPr>
              <a:t>Click to edit the outline text format</a:t>
            </a:r>
            <a:endParaRPr b="0" lang="en-US"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uFillTx/>
                <a:latin typeface="Calibri"/>
              </a:rPr>
              <a:t>Second Outline Level</a:t>
            </a:r>
            <a:endParaRPr b="0" lang="en-US"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uFillTx/>
                <a:latin typeface="Calibri"/>
              </a:rPr>
              <a:t>Third Outline Level</a:t>
            </a:r>
            <a:endParaRPr b="0" lang="en-US"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uFillTx/>
                <a:latin typeface="Calibri"/>
              </a:rPr>
              <a:t>Fourth Outline Level</a:t>
            </a:r>
            <a:endParaRPr b="0" lang="en-US"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Fifth Outline Level</a:t>
            </a:r>
            <a:endParaRPr b="0" lang="en-US"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Sixth Outline Level</a:t>
            </a:r>
            <a:endParaRPr b="0" lang="en-US"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Seventh Outline Level</a:t>
            </a:r>
            <a:endParaRPr b="0" lang="en-US"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68" r:id="rId4"/>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74" name="Picture 6" descr=""/>
          <p:cNvPicPr/>
          <p:nvPr/>
        </p:nvPicPr>
        <p:blipFill>
          <a:blip r:embed="rId2"/>
          <a:stretch/>
        </p:blipFill>
        <p:spPr>
          <a:xfrm>
            <a:off x="11700000" y="103680"/>
            <a:ext cx="402840" cy="570240"/>
          </a:xfrm>
          <a:prstGeom prst="rect">
            <a:avLst/>
          </a:prstGeom>
          <a:noFill/>
          <a:ln w="0">
            <a:noFill/>
          </a:ln>
        </p:spPr>
      </p:pic>
      <p:pic>
        <p:nvPicPr>
          <p:cNvPr id="75"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76"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trike="noStrike" u="none">
                <a:solidFill>
                  <a:schemeClr val="dk1"/>
                </a:solidFill>
                <a:uFillTx/>
                <a:latin typeface="Calibri Light"/>
              </a:rPr>
              <a:t>Click to edit Master title style</a:t>
            </a:r>
            <a:endParaRPr b="0" lang="en-US" sz="3200" strike="noStrike" u="none">
              <a:solidFill>
                <a:schemeClr val="dk1"/>
              </a:solidFill>
              <a:uFillTx/>
              <a:latin typeface="Calibri"/>
            </a:endParaRPr>
          </a:p>
        </p:txBody>
      </p:sp>
      <p:sp>
        <p:nvSpPr>
          <p:cNvPr id="77"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uFillTx/>
                <a:latin typeface="Calibri"/>
              </a:rPr>
              <a:t>Click to edit Master text styles</a:t>
            </a:r>
            <a:endParaRPr b="0" lang="en-US" sz="32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800" strike="noStrike" u="none">
                <a:solidFill>
                  <a:schemeClr val="dk1"/>
                </a:solidFill>
                <a:uFillTx/>
                <a:latin typeface="Calibri"/>
              </a:rPr>
              <a:t>Second level</a:t>
            </a:r>
            <a:endParaRPr b="0" lang="en-US" sz="2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Third level</a:t>
            </a:r>
            <a:endParaRPr b="0" lang="en-US" sz="24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Fourth level</a:t>
            </a:r>
            <a:endParaRPr b="0" lang="en-US" sz="20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Fifth level</a:t>
            </a:r>
            <a:endParaRPr b="0" lang="en-US" sz="2000" strike="noStrike" u="none">
              <a:solidFill>
                <a:schemeClr val="dk1"/>
              </a:solidFill>
              <a:uFillTx/>
              <a:latin typeface="Calibri"/>
            </a:endParaRPr>
          </a:p>
        </p:txBody>
      </p:sp>
      <p:sp>
        <p:nvSpPr>
          <p:cNvPr id="78"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uFillTx/>
                <a:latin typeface="Calibri"/>
              </a:rPr>
              <a:t>Click to edit Master text styles</a:t>
            </a:r>
            <a:endParaRPr b="0" lang="en-US" sz="1600" strike="noStrike" u="none">
              <a:solidFill>
                <a:schemeClr val="dk1"/>
              </a:solidFill>
              <a:uFillTx/>
              <a:latin typeface="Calibri"/>
            </a:endParaRPr>
          </a:p>
        </p:txBody>
      </p:sp>
      <p:sp>
        <p:nvSpPr>
          <p:cNvPr id="79" name="PlaceHolder 4"/>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&lt;date/time&gt;</a:t>
            </a:r>
            <a:endParaRPr b="0" lang="en-US" sz="1200" strike="noStrike" u="none">
              <a:solidFill>
                <a:srgbClr val="000000"/>
              </a:solidFill>
              <a:uFillTx/>
              <a:latin typeface="Times New Roman"/>
            </a:endParaRPr>
          </a:p>
        </p:txBody>
      </p:sp>
      <p:sp>
        <p:nvSpPr>
          <p:cNvPr id="80" name="PlaceHolder 5"/>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&lt;footer&gt;</a:t>
            </a:r>
            <a:endParaRPr b="0" lang="en-US" sz="1400" strike="noStrike" u="none">
              <a:solidFill>
                <a:srgbClr val="000000"/>
              </a:solidFill>
              <a:uFillTx/>
              <a:latin typeface="Times New Roman"/>
            </a:endParaRPr>
          </a:p>
        </p:txBody>
      </p:sp>
      <p:sp>
        <p:nvSpPr>
          <p:cNvPr id="81" name="PlaceHolder 6"/>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F4D0EB0C-B345-4331-B336-8B66B076FD74}" type="slidenum">
              <a:rPr b="0" lang="en-US" sz="1200" strike="noStrike" u="none">
                <a:solidFill>
                  <a:schemeClr val="dk1">
                    <a:tint val="75000"/>
                  </a:schemeClr>
                </a:solidFill>
                <a:uFillTx/>
                <a:latin typeface="Calibri"/>
              </a:rPr>
              <a:t>&lt;number&gt;</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0" r:id="rId4"/>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2" name="Picture 6" descr=""/>
          <p:cNvPicPr/>
          <p:nvPr/>
        </p:nvPicPr>
        <p:blipFill>
          <a:blip r:embed="rId2"/>
          <a:stretch/>
        </p:blipFill>
        <p:spPr>
          <a:xfrm>
            <a:off x="11700000" y="103680"/>
            <a:ext cx="402840" cy="570240"/>
          </a:xfrm>
          <a:prstGeom prst="rect">
            <a:avLst/>
          </a:prstGeom>
          <a:noFill/>
          <a:ln w="0">
            <a:noFill/>
          </a:ln>
        </p:spPr>
      </p:pic>
      <p:pic>
        <p:nvPicPr>
          <p:cNvPr id="83" name="Picture 8" descr=""/>
          <p:cNvPicPr/>
          <p:nvPr/>
        </p:nvPicPr>
        <p:blipFill>
          <a:blip r:embed="rId3"/>
          <a:stretch/>
        </p:blipFill>
        <p:spPr>
          <a:xfrm>
            <a:off x="10355400" y="43200"/>
            <a:ext cx="1171080" cy="593640"/>
          </a:xfrm>
          <a:prstGeom prst="rect">
            <a:avLst/>
          </a:prstGeom>
          <a:noFill/>
          <a:ln w="0">
            <a:noFill/>
          </a:ln>
          <a:effectLst>
            <a:softEdge rad="112680"/>
          </a:effectLst>
        </p:spPr>
      </p:pic>
      <p:sp>
        <p:nvSpPr>
          <p:cNvPr id="8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trike="noStrike" u="none">
                <a:solidFill>
                  <a:schemeClr val="dk1"/>
                </a:solidFill>
                <a:uFillTx/>
                <a:latin typeface="Calibri Light"/>
              </a:rPr>
              <a:t>Click to edit Master title style</a:t>
            </a:r>
            <a:endParaRPr b="0" lang="en-US" sz="3200" strike="noStrike" u="none">
              <a:solidFill>
                <a:schemeClr val="dk1"/>
              </a:solidFill>
              <a:uFillTx/>
              <a:latin typeface="Calibri"/>
            </a:endParaRPr>
          </a:p>
        </p:txBody>
      </p:sp>
      <p:sp>
        <p:nvSpPr>
          <p:cNvPr id="85"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trike="noStrike" u="none">
                <a:solidFill>
                  <a:schemeClr val="dk1"/>
                </a:solidFill>
                <a:uFillTx/>
                <a:latin typeface="Calibri"/>
              </a:rPr>
              <a:t>Click to edit the outline text format</a:t>
            </a:r>
            <a:endParaRPr b="0" lang="en-US" sz="32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3200" strike="noStrike" u="none">
                <a:solidFill>
                  <a:schemeClr val="dk1"/>
                </a:solidFill>
                <a:uFillTx/>
                <a:latin typeface="Calibri"/>
              </a:rPr>
              <a:t>Second Outline Level</a:t>
            </a:r>
            <a:endParaRPr b="0" lang="en-US" sz="32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3200" strike="noStrike" u="none">
                <a:solidFill>
                  <a:schemeClr val="dk1"/>
                </a:solidFill>
                <a:uFillTx/>
                <a:latin typeface="Calibri"/>
              </a:rPr>
              <a:t>Third Outline Level</a:t>
            </a:r>
            <a:endParaRPr b="0" lang="en-US" sz="32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3200" strike="noStrike" u="none">
                <a:solidFill>
                  <a:schemeClr val="dk1"/>
                </a:solidFill>
                <a:uFillTx/>
                <a:latin typeface="Calibri"/>
              </a:rPr>
              <a:t>Fourth Outline Level</a:t>
            </a:r>
            <a:endParaRPr b="0" lang="en-US" sz="32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Fifth Outline Level</a:t>
            </a:r>
            <a:endParaRPr b="0" lang="en-US" sz="32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Sixth Outline Level</a:t>
            </a:r>
            <a:endParaRPr b="0" lang="en-US" sz="32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Seventh Outline Level</a:t>
            </a:r>
            <a:endParaRPr b="0" lang="en-US" sz="3200" strike="noStrike" u="none">
              <a:solidFill>
                <a:schemeClr val="dk1"/>
              </a:solidFill>
              <a:uFillTx/>
              <a:latin typeface="Calibri"/>
            </a:endParaRPr>
          </a:p>
        </p:txBody>
      </p:sp>
      <p:sp>
        <p:nvSpPr>
          <p:cNvPr id="8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uFillTx/>
                <a:latin typeface="Calibri"/>
              </a:rPr>
              <a:t>Click to edit Master text styles</a:t>
            </a:r>
            <a:endParaRPr b="0" lang="en-US" sz="1600" strike="noStrike" u="none">
              <a:solidFill>
                <a:schemeClr val="dk1"/>
              </a:solidFill>
              <a:uFillTx/>
              <a:latin typeface="Calibri"/>
            </a:endParaRPr>
          </a:p>
        </p:txBody>
      </p:sp>
      <p:sp>
        <p:nvSpPr>
          <p:cNvPr id="87"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trike="noStrike" u="none">
                <a:solidFill>
                  <a:schemeClr val="dk1">
                    <a:tint val="75000"/>
                  </a:schemeClr>
                </a:solidFill>
                <a:uFillTx/>
                <a:latin typeface="Calibri"/>
              </a:defRPr>
            </a:lvl1pPr>
          </a:lstStyle>
          <a:p>
            <a:pPr indent="0" defTabSz="914400">
              <a:lnSpc>
                <a:spcPct val="100000"/>
              </a:lnSpc>
              <a:buNone/>
            </a:pPr>
            <a:r>
              <a:rPr b="0" lang="en-US" sz="1200" strike="noStrike" u="none">
                <a:solidFill>
                  <a:schemeClr val="dk1">
                    <a:tint val="75000"/>
                  </a:schemeClr>
                </a:solidFill>
                <a:uFillTx/>
                <a:latin typeface="Calibri"/>
              </a:rPr>
              <a:t>&lt;date/time&gt;</a:t>
            </a:r>
            <a:endParaRPr b="0" lang="en-US" sz="1200" strike="noStrike" u="none">
              <a:solidFill>
                <a:srgbClr val="000000"/>
              </a:solidFill>
              <a:uFillTx/>
              <a:latin typeface="Times New Roman"/>
            </a:endParaRPr>
          </a:p>
        </p:txBody>
      </p:sp>
      <p:sp>
        <p:nvSpPr>
          <p:cNvPr id="88"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uFillTx/>
                <a:latin typeface="Times New Roman"/>
              </a:defRPr>
            </a:lvl1pPr>
          </a:lstStyle>
          <a:p>
            <a:pPr indent="0" algn="ctr">
              <a:buNone/>
            </a:pPr>
            <a:r>
              <a:rPr b="0" lang="en-US" sz="1400" strike="noStrike" u="none">
                <a:solidFill>
                  <a:srgbClr val="000000"/>
                </a:solidFill>
                <a:uFillTx/>
                <a:latin typeface="Times New Roman"/>
              </a:rPr>
              <a:t>&lt;footer&gt;</a:t>
            </a:r>
            <a:endParaRPr b="0" lang="en-US" sz="1400" strike="noStrike" u="none">
              <a:solidFill>
                <a:srgbClr val="000000"/>
              </a:solidFill>
              <a:uFillTx/>
              <a:latin typeface="Times New Roman"/>
            </a:endParaRPr>
          </a:p>
        </p:txBody>
      </p:sp>
      <p:sp>
        <p:nvSpPr>
          <p:cNvPr id="89"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trike="noStrike" u="none">
                <a:solidFill>
                  <a:schemeClr val="dk1">
                    <a:tint val="75000"/>
                  </a:schemeClr>
                </a:solidFill>
                <a:uFillTx/>
                <a:latin typeface="Calibri"/>
              </a:defRPr>
            </a:lvl1pPr>
          </a:lstStyle>
          <a:p>
            <a:pPr indent="0" algn="r" defTabSz="914400">
              <a:lnSpc>
                <a:spcPct val="100000"/>
              </a:lnSpc>
              <a:buNone/>
            </a:pPr>
            <a:fld id="{07639596-BA72-4D97-894B-AC68946B65A9}" type="slidenum">
              <a:rPr b="0" lang="en-US" sz="1200" strike="noStrike" u="none">
                <a:solidFill>
                  <a:schemeClr val="dk1">
                    <a:tint val="75000"/>
                  </a:schemeClr>
                </a:solidFill>
                <a:uFillTx/>
                <a:latin typeface="Calibri"/>
              </a:rPr>
              <a:t>&lt;number&gt;</a:t>
            </a:fld>
            <a:endParaRPr b="0" lang="en-US"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2"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wmf"/><Relationship Id="rId3" Type="http://schemas.openxmlformats.org/officeDocument/2006/relationships/slideLayout" Target="../slideLayouts/slideLayout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8.xml.rels><?xml version="1.0" encoding="UTF-8"?>
<Relationships xmlns="http://schemas.openxmlformats.org/package/2006/relationships"><Relationship Id="rId1" Type="http://schemas.openxmlformats.org/officeDocument/2006/relationships/image" Target="../media/image8.wmf"/><Relationship Id="rId2" Type="http://schemas.openxmlformats.org/officeDocument/2006/relationships/slideLayout" Target="../slideLayouts/slideLayout7.xml"/>
</Relationships>
</file>

<file path=ppt/slides/_rels/slide9.xml.rels><?xml version="1.0" encoding="UTF-8"?>
<Relationships xmlns="http://schemas.openxmlformats.org/package/2006/relationships"><Relationship Id="rId1" Type="http://schemas.openxmlformats.org/officeDocument/2006/relationships/hyperlink" Target="https://colab.research.google.com/github/msfasha/307307-BI-Methods/blob/main/20242-NLP-LLM/lecture%20notes/Part%201%20-%20Introduction%20to%20NLP/1-introduction_to_nlp.ipynb" TargetMode="Externa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slideLayout" Target="../slideLayouts/slideLayout7.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2.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7.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0.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7.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26.xml.rels><?xml version="1.0" encoding="UTF-8"?>
<Relationships xmlns="http://schemas.openxmlformats.org/package/2006/relationships"><Relationship Id="rId1" Type="http://schemas.openxmlformats.org/officeDocument/2006/relationships/hyperlink" Target="https://colab.research.google.com/github/msfasha/307307-BI-Methods/blob/main/20242-NLP-LLM/lecture%20notes/Part%201%20-%20Introduction%20to%20NLP/1-introduction_to_nlp.ipynb" TargetMode="Externa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slideLayout" Target="../slideLayouts/slideLayout7.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33.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slideLayout" Target="../slideLayouts/slideLayout7.xml"/>
</Relationships>
</file>

<file path=ppt/slides/_rels/slide34.xml.rels><?xml version="1.0" encoding="UTF-8"?>
<Relationships xmlns="http://schemas.openxmlformats.org/package/2006/relationships"><Relationship Id="rId1" Type="http://schemas.openxmlformats.org/officeDocument/2006/relationships/hyperlink" Target="https://colab.research.google.com/github/msfasha/307307-BI-Methods/blob/main/20242-NLP-LLM/lecture%20notes/Part%201%20-%20Introduction%20to%20NLP/1-introduction_to_nlp.ipynb" TargetMode="Externa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slideLayout" Target="../slideLayouts/slideLayout7.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0" name="Picture 5" descr=""/>
          <p:cNvPicPr/>
          <p:nvPr/>
        </p:nvPicPr>
        <p:blipFill>
          <a:blip r:embed="rId1"/>
          <a:stretch/>
        </p:blipFill>
        <p:spPr>
          <a:xfrm>
            <a:off x="5638680" y="279360"/>
            <a:ext cx="914040" cy="1204560"/>
          </a:xfrm>
          <a:prstGeom prst="rect">
            <a:avLst/>
          </a:prstGeom>
          <a:noFill/>
          <a:ln w="0">
            <a:noFill/>
          </a:ln>
        </p:spPr>
      </p:pic>
      <p:sp>
        <p:nvSpPr>
          <p:cNvPr id="91"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3600" strike="noStrike" u="none">
                <a:solidFill>
                  <a:schemeClr val="dk1"/>
                </a:solidFill>
                <a:uFillTx/>
                <a:latin typeface="Calibri Light"/>
              </a:rPr>
              <a:t>307307</a:t>
            </a:r>
            <a:br>
              <a:rPr sz="3600"/>
            </a:br>
            <a:r>
              <a:rPr b="0" lang="en-US" sz="3600" strike="noStrike" u="none">
                <a:solidFill>
                  <a:schemeClr val="dk1"/>
                </a:solidFill>
                <a:uFillTx/>
                <a:latin typeface="Calibri Light"/>
              </a:rPr>
              <a:t>Introduction to Text Mining and </a:t>
            </a:r>
            <a:br>
              <a:rPr sz="3600"/>
            </a:br>
            <a:r>
              <a:rPr b="0" lang="en-US" sz="3600" strike="noStrike" u="none">
                <a:solidFill>
                  <a:schemeClr val="dk1"/>
                </a:solidFill>
                <a:uFillTx/>
                <a:latin typeface="Calibri Light"/>
              </a:rPr>
              <a:t>Natural Language Processing</a:t>
            </a:r>
            <a:endParaRPr b="0" lang="en-US" sz="3600" strike="noStrike" u="none">
              <a:solidFill>
                <a:schemeClr val="dk1"/>
              </a:solidFill>
              <a:uFillTx/>
              <a:latin typeface="Calibri"/>
            </a:endParaRPr>
          </a:p>
        </p:txBody>
      </p:sp>
      <p:sp>
        <p:nvSpPr>
          <p:cNvPr id="92" name="PlaceHolder 2"/>
          <p:cNvSpPr>
            <a:spLocks noGrp="1"/>
          </p:cNvSpPr>
          <p:nvPr>
            <p:ph type="subTitle"/>
          </p:nvPr>
        </p:nvSpPr>
        <p:spPr>
          <a:xfrm>
            <a:off x="1523880" y="3602160"/>
            <a:ext cx="9143640" cy="1655280"/>
          </a:xfrm>
          <a:prstGeom prst="rect">
            <a:avLst/>
          </a:prstGeom>
          <a:noFill/>
          <a:ln w="0">
            <a:noFill/>
          </a:ln>
        </p:spPr>
        <p:txBody>
          <a:bodyPr lIns="91440" rIns="91440" tIns="45720" bIns="45720" anchor="t">
            <a:noAutofit/>
          </a:bodyPr>
          <a:p>
            <a:pPr indent="0" algn="ctr">
              <a:buNone/>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What is Natural Language Processing?</a:t>
            </a:r>
            <a:endParaRPr b="0" lang="en-US" sz="2800" strike="noStrike" u="none">
              <a:solidFill>
                <a:schemeClr val="dk1"/>
              </a:solidFill>
              <a:uFillTx/>
              <a:latin typeface="Calibri"/>
            </a:endParaRPr>
          </a:p>
        </p:txBody>
      </p:sp>
      <p:sp>
        <p:nvSpPr>
          <p:cNvPr id="94" name="PlaceHolder 2"/>
          <p:cNvSpPr>
            <a:spLocks noGrp="1"/>
          </p:cNvSpPr>
          <p:nvPr>
            <p:ph/>
          </p:nvPr>
        </p:nvSpPr>
        <p:spPr>
          <a:xfrm>
            <a:off x="838080" y="1706040"/>
            <a:ext cx="10515240" cy="49906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Natural Language Processing (NLP) is a field at the intersection of computer science, artificial intelligence, and linguistics focused on enabling computers to understand, interpret, and generate human language. </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It forms the foundation for all language technologies we use today, from search engines to voice assistants and modern large language models.</a:t>
            </a:r>
            <a:endParaRPr b="0" lang="en-US" sz="2400" strike="noStrike" u="none">
              <a:solidFill>
                <a:schemeClr val="dk1"/>
              </a:solidFill>
              <a:uFillTx/>
              <a:latin typeface="Calibri"/>
            </a:endParaRPr>
          </a:p>
          <a:p>
            <a:pPr indent="0" defTabSz="914400">
              <a:lnSpc>
                <a:spcPct val="90000"/>
              </a:lnSpc>
              <a:spcBef>
                <a:spcPts val="1001"/>
              </a:spcBef>
              <a:buNone/>
            </a:pPr>
            <a:endParaRPr b="0" lang="en-US" sz="2400" strike="noStrike" u="none">
              <a:solidFill>
                <a:schemeClr val="dk1"/>
              </a:solidFill>
              <a:uFillTx/>
              <a:latin typeface="Calibri"/>
            </a:endParaRPr>
          </a:p>
        </p:txBody>
      </p:sp>
      <p:sp>
        <p:nvSpPr>
          <p:cNvPr id="95" name="TextBox 6"/>
          <p:cNvSpPr/>
          <p:nvPr/>
        </p:nvSpPr>
        <p:spPr>
          <a:xfrm>
            <a:off x="3370320" y="6220800"/>
            <a:ext cx="609660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i="1" lang="en-US" sz="1200" strike="noStrike" u="none">
                <a:solidFill>
                  <a:schemeClr val="dk1"/>
                </a:solidFill>
                <a:uFillTx/>
                <a:latin typeface="TimesNewRomanPS-ItalicMT"/>
              </a:rPr>
              <a:t>A peek into the history of Language AI – Hands on LLMs, Jay Al Ammar Book</a:t>
            </a:r>
            <a:endParaRPr b="0" lang="en-US" sz="12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6" name="Picture 2" descr="history of NLP timeline"/>
          <p:cNvPicPr/>
          <p:nvPr/>
        </p:nvPicPr>
        <p:blipFill>
          <a:blip r:embed="rId1"/>
          <a:stretch/>
        </p:blipFill>
        <p:spPr>
          <a:xfrm>
            <a:off x="5060160" y="1706040"/>
            <a:ext cx="7006680" cy="3143520"/>
          </a:xfrm>
          <a:prstGeom prst="rect">
            <a:avLst/>
          </a:prstGeom>
          <a:noFill/>
          <a:ln w="0">
            <a:noFill/>
          </a:ln>
        </p:spPr>
      </p:pic>
      <p:sp>
        <p:nvSpPr>
          <p:cNvPr id="97"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1" lang="en-US" sz="2800" strike="noStrike" u="none">
                <a:solidFill>
                  <a:schemeClr val="lt1"/>
                </a:solidFill>
                <a:uFillTx/>
                <a:latin typeface="Calibri Light"/>
              </a:rPr>
              <a:t>Historical Development of NLP</a:t>
            </a:r>
            <a:endParaRPr b="0" lang="en-US" sz="2800" strike="noStrike" u="none">
              <a:solidFill>
                <a:schemeClr val="dk1"/>
              </a:solidFill>
              <a:uFillTx/>
              <a:latin typeface="Calibri"/>
            </a:endParaRPr>
          </a:p>
        </p:txBody>
      </p:sp>
      <p:sp>
        <p:nvSpPr>
          <p:cNvPr id="98"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fontScale="47500" lnSpcReduction="19999"/>
          </a:bodyPr>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NLP has evolved dramatically over the decades: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1950s-1960s: Rule-Based Approaches</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Focus on machine translation during the Cold War</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Primitive rule-based systems with hand-crafted grammars</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Limited by the complexity of language rules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1970s-1980s: Statistical Revolution Begins</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Introduction of probabilistic models</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Hidden Markov Models for part-of-speech tagging</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Still limited by computational power and data availability</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1990s-2000s: Statistical NLP Flourishes</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Large text corpora become available</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Machine learning approaches gain prominence</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Statistical machine translation emerges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2010-2018: Neural Revolution</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Word embeddings (Word2Vec, GloVe) transform representation</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Recurrent Neural Networks and LSTMs for sequence modeling</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Attention mechanisms improve performance</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2018-Present: Transformer Era</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BERT, GPT, and other transformer models revolutionize the field</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Pre-training and fine-tuning paradigm</a:t>
            </a:r>
            <a:endParaRPr b="0" lang="en-US" sz="2400" strike="noStrike" u="none">
              <a:solidFill>
                <a:schemeClr val="dk1"/>
              </a:solidFill>
              <a:uFillTx/>
              <a:latin typeface="Calibri"/>
            </a:endParaRPr>
          </a:p>
          <a:p>
            <a:pPr marL="228600" indent="-11736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Increasingly human-like language understanding capabilities</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p:txBody>
      </p:sp>
      <p:pic>
        <p:nvPicPr>
          <p:cNvPr id="99" name="Picture 4" descr=""/>
          <p:cNvPicPr/>
          <p:nvPr/>
        </p:nvPicPr>
        <p:blipFill>
          <a:blip r:embed="rId2"/>
          <a:stretch/>
        </p:blipFill>
        <p:spPr>
          <a:xfrm>
            <a:off x="6355440" y="4495680"/>
            <a:ext cx="4416120" cy="198864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Why is NLP Challenging?</a:t>
            </a:r>
            <a:endParaRPr b="0" lang="en-US" sz="2800" strike="noStrike" u="none">
              <a:solidFill>
                <a:schemeClr val="dk1"/>
              </a:solidFill>
              <a:uFillTx/>
              <a:latin typeface="Calibri"/>
            </a:endParaRPr>
          </a:p>
        </p:txBody>
      </p:sp>
      <p:sp>
        <p:nvSpPr>
          <p:cNvPr id="101" name="PlaceHolder 2"/>
          <p:cNvSpPr>
            <a:spLocks noGrp="1"/>
          </p:cNvSpPr>
          <p:nvPr>
            <p:ph/>
          </p:nvPr>
        </p:nvSpPr>
        <p:spPr>
          <a:xfrm>
            <a:off x="838080" y="1706040"/>
            <a:ext cx="11107440" cy="4990680"/>
          </a:xfrm>
          <a:prstGeom prst="rect">
            <a:avLst/>
          </a:prstGeom>
          <a:noFill/>
          <a:ln w="0">
            <a:noFill/>
          </a:ln>
        </p:spPr>
        <p:txBody>
          <a:bodyPr lIns="91440" rIns="91440" tIns="45720" bIns="45720" anchor="t">
            <a:normAutofit fontScale="85000" lnSpcReduction="19999"/>
          </a:bodyPr>
          <a:p>
            <a:pPr indent="0" defTabSz="914400">
              <a:lnSpc>
                <a:spcPct val="90000"/>
              </a:lnSpc>
              <a:spcBef>
                <a:spcPts val="1001"/>
              </a:spcBef>
              <a:buNone/>
              <a:tabLst>
                <a:tab algn="l" pos="0"/>
              </a:tabLst>
            </a:pPr>
            <a:r>
              <a:rPr b="0" lang="en-US" sz="2400" strike="noStrike" u="none">
                <a:solidFill>
                  <a:schemeClr val="dk1"/>
                </a:solidFill>
                <a:uFillTx/>
                <a:latin typeface="Calibri"/>
              </a:rPr>
              <a:t>Human language is ambiguous: Words and sentences can have multiple interpretations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Lexical ambiguity</a:t>
            </a:r>
            <a:r>
              <a:rPr b="0" lang="en-US" sz="2400" strike="noStrike" u="none">
                <a:solidFill>
                  <a:schemeClr val="dk1"/>
                </a:solidFill>
                <a:uFillTx/>
                <a:latin typeface="Calibri"/>
              </a:rPr>
              <a:t>: When a word has multiple meanings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"The bank is closed" (financial institution or riverbank)</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"The suit was expensive" (Formal set of clothes or Legal proceeding)</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100" strike="noStrike" u="none">
                <a:solidFill>
                  <a:schemeClr val="dk1"/>
                </a:solidFill>
                <a:uFillTx/>
                <a:latin typeface="Calibri"/>
              </a:rPr>
              <a:t>Computational challenge: Systems must select the correct word sense from multiple possibilities</a:t>
            </a:r>
            <a:endParaRPr b="0" lang="en-US" sz="21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Syntactic ambiguity</a:t>
            </a:r>
            <a:r>
              <a:rPr b="0" lang="en-US" sz="2400" strike="noStrike" u="none">
                <a:solidFill>
                  <a:schemeClr val="dk1"/>
                </a:solidFill>
                <a:uFillTx/>
                <a:latin typeface="Calibri"/>
              </a:rPr>
              <a:t>: When a sentence can be parsed in multiple ways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"I saw the man with the telescope" (Who has the telescope?)</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"Flying planes can be dangerous" (The act of flying planes or planes that are flying?)</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Computational challenge: Models must determine the correct grammatical structure</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Semantic ambiguity</a:t>
            </a:r>
            <a:r>
              <a:rPr b="0" lang="en-US" sz="2400" strike="noStrike" u="none">
                <a:solidFill>
                  <a:schemeClr val="dk1"/>
                </a:solidFill>
                <a:uFillTx/>
                <a:latin typeface="Calibri"/>
              </a:rPr>
              <a:t>: When the meaning of a sentence has multiple interpretations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"The chicken is ready to eat" (Ready to be eaten or ready to consume food?)</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"John and Mary got married last year" (To each other or to other people?)</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Computational challenge: Systems must infer the intended meaning based on context</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Pragmatic ambiguity</a:t>
            </a:r>
            <a:r>
              <a:rPr b="0" lang="en-US" sz="2400" strike="noStrike" u="none">
                <a:solidFill>
                  <a:schemeClr val="dk1"/>
                </a:solidFill>
                <a:uFillTx/>
                <a:latin typeface="Calibri"/>
              </a:rPr>
              <a:t>: When the intended meaning depends on context, intent, or implied information</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"It's cold in here" (Statement of fact or request to close a window/turn up heat?)</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 "Do you know what time it is?" (Yes/no question or request for the time?)</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Computational challenge: Models must understand communicative intent beyond literal meaning</a:t>
            </a:r>
            <a:endParaRPr b="0" lang="en-US" sz="20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Common NLP Applications</a:t>
            </a:r>
            <a:endParaRPr b="0" lang="en-US" sz="2800" strike="noStrike" u="none">
              <a:solidFill>
                <a:schemeClr val="dk1"/>
              </a:solidFill>
              <a:uFillTx/>
              <a:latin typeface="Calibri"/>
            </a:endParaRPr>
          </a:p>
        </p:txBody>
      </p:sp>
      <p:sp>
        <p:nvSpPr>
          <p:cNvPr id="103" name="PlaceHolder 2"/>
          <p:cNvSpPr>
            <a:spLocks noGrp="1"/>
          </p:cNvSpPr>
          <p:nvPr>
            <p:ph/>
          </p:nvPr>
        </p:nvSpPr>
        <p:spPr>
          <a:xfrm>
            <a:off x="838080" y="1706040"/>
            <a:ext cx="10515240" cy="5066640"/>
          </a:xfrm>
          <a:prstGeom prst="rect">
            <a:avLst/>
          </a:prstGeom>
          <a:noFill/>
          <a:ln w="0">
            <a:noFill/>
          </a:ln>
        </p:spPr>
        <p:txBody>
          <a:bodyPr lIns="91440" rIns="91440" tIns="45720" bIns="45720" anchor="t">
            <a:normAutofit fontScale="85000" lnSpcReduction="19999"/>
          </a:bodyPr>
          <a:p>
            <a:pPr indent="0" defTabSz="914400">
              <a:lnSpc>
                <a:spcPct val="90000"/>
              </a:lnSpc>
              <a:spcBef>
                <a:spcPts val="1001"/>
              </a:spcBef>
              <a:buNone/>
              <a:tabLst>
                <a:tab algn="l" pos="0"/>
              </a:tabLst>
            </a:pPr>
            <a:r>
              <a:rPr b="0" lang="en-US" sz="2400" strike="noStrike" u="none">
                <a:solidFill>
                  <a:schemeClr val="dk1"/>
                </a:solidFill>
                <a:uFillTx/>
                <a:latin typeface="Calibri"/>
              </a:rPr>
              <a:t>1. Sentiment analysis: Determining the emotional tone of text</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Identifying if customer reviews are positive, negative, or neutral</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Tracking public opinion on products, services, or topics</a:t>
            </a:r>
            <a:endParaRPr b="0" lang="en-US" sz="20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2. Machine translation: Translating text between languages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Converting text from one language to another while preserving meaning</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Handling cultural and linguistic differences across languages</a:t>
            </a:r>
            <a:endParaRPr b="0" lang="en-US" sz="20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3. Text generation: Creating human-like text</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Automatic summarization of longer documents</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Creative writing assistance and content creation</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Dialogue systems for conversational AI</a:t>
            </a:r>
            <a:endParaRPr b="0" lang="en-US" sz="20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4. Question answering: Providing answers to natural language questions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Extracting answers from documents or knowledge bases</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Understanding user intent and providing relevant information</a:t>
            </a:r>
            <a:endParaRPr b="0" lang="en-US" sz="20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5. Information extraction: Identifying and extracting structured information from text</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Pulling key data points from unstructured documents</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Converting text documents into structured databases</a:t>
            </a:r>
            <a:endParaRPr b="0" lang="en-US" sz="20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6. Text classification: Categorizing text into predefined categories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Sorting emails into spam/not spam</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Organizing documents by topic or content type</a:t>
            </a:r>
            <a:endParaRPr b="0" lang="en-US" sz="20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831960" y="3429000"/>
            <a:ext cx="10515240" cy="1410120"/>
          </a:xfrm>
          <a:prstGeom prst="rect">
            <a:avLst/>
          </a:prstGeom>
          <a:noFill/>
          <a:ln w="0">
            <a:noFill/>
          </a:ln>
        </p:spPr>
        <p:txBody>
          <a:bodyPr lIns="91440" rIns="91440" tIns="45720" bIns="45720" anchor="b">
            <a:noAutofit/>
          </a:bodyPr>
          <a:p>
            <a:pPr indent="0" defTabSz="914400">
              <a:lnSpc>
                <a:spcPct val="90000"/>
              </a:lnSpc>
              <a:buNone/>
            </a:pPr>
            <a:r>
              <a:rPr b="0" lang="en-US" sz="6000" strike="noStrike" u="none">
                <a:solidFill>
                  <a:schemeClr val="dk1"/>
                </a:solidFill>
                <a:uFillTx/>
                <a:latin typeface="Calibri Light"/>
              </a:rPr>
              <a:t>Fundamental NLP Techniques</a:t>
            </a:r>
            <a:endParaRPr b="0" lang="en-US" sz="6000" strike="noStrike" u="none">
              <a:solidFill>
                <a:schemeClr val="dk1"/>
              </a:solidFill>
              <a:uFillTx/>
              <a:latin typeface="Calibri"/>
            </a:endParaRPr>
          </a:p>
        </p:txBody>
      </p:sp>
      <p:sp>
        <p:nvSpPr>
          <p:cNvPr id="105" name="PlaceHolder 2"/>
          <p:cNvSpPr>
            <a:spLocks noGrp="1"/>
          </p:cNvSpPr>
          <p:nvPr>
            <p:ph/>
          </p:nvPr>
        </p:nvSpPr>
        <p:spPr>
          <a:xfrm>
            <a:off x="831960" y="4956120"/>
            <a:ext cx="10515240" cy="1133280"/>
          </a:xfrm>
          <a:prstGeom prst="rect">
            <a:avLst/>
          </a:prstGeom>
          <a:noFill/>
          <a:ln w="0">
            <a:noFill/>
          </a:ln>
        </p:spPr>
        <p:txBody>
          <a:bodyPr lIns="91440" rIns="91440" tIns="45720" bIns="45720" anchor="t">
            <a:noAutofit/>
          </a:bodyPr>
          <a:p>
            <a:pPr indent="0">
              <a:lnSpc>
                <a:spcPct val="90000"/>
              </a:lnSpc>
              <a:spcBef>
                <a:spcPts val="1417"/>
              </a:spcBef>
              <a:buNone/>
            </a:pPr>
            <a:endParaRPr b="0" lang="en-US" sz="2400" strike="noStrike" u="none">
              <a:solidFill>
                <a:schemeClr val="dk1">
                  <a:tint val="75000"/>
                </a:schemeClr>
              </a:solidFill>
              <a:uFillTx/>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1" lang="en-US" sz="2800" strike="noStrike" u="none">
                <a:solidFill>
                  <a:schemeClr val="lt1"/>
                </a:solidFill>
                <a:uFillTx/>
                <a:latin typeface="Consolas"/>
              </a:rPr>
              <a:t>NLTK (Natural Language Toolkit)</a:t>
            </a:r>
            <a:endParaRPr b="0" lang="en-US" sz="2800" strike="noStrike" u="none">
              <a:solidFill>
                <a:schemeClr val="dk1"/>
              </a:solidFill>
              <a:uFillTx/>
              <a:latin typeface="Calibri"/>
            </a:endParaRPr>
          </a:p>
        </p:txBody>
      </p:sp>
      <p:sp>
        <p:nvSpPr>
          <p:cNvPr id="107"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fontScale="62500" lnSpcReduction="19999"/>
          </a:bodyPr>
          <a:p>
            <a:pPr indent="0" defTabSz="914400">
              <a:lnSpc>
                <a:spcPct val="90000"/>
              </a:lnSpc>
              <a:spcBef>
                <a:spcPts val="1001"/>
              </a:spcBef>
              <a:buNone/>
              <a:tabLst>
                <a:tab algn="l" pos="0"/>
              </a:tabLst>
            </a:pPr>
            <a:r>
              <a:rPr b="0" lang="en-US" sz="2400" strike="noStrike" u="none">
                <a:solidFill>
                  <a:schemeClr val="dk1"/>
                </a:solidFill>
                <a:uFillTx/>
                <a:latin typeface="Calibri"/>
              </a:rPr>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Key Features of NLTK</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Comprehensive Toolkit: NLTK provides easy-to-use interfaces to over 50 corpora and lexical resources, along with a suite of text processing libraries for classification, tokenization, stemming, tagging, parsing, and semantic reasoning.</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Educational Purpose: NLTK was designed with education in mind. It comes with comprehensive documentation and a book ("Natural Language Processing with Python") that makes it accessible for beginners.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Built-in Datasets: NLTK includes various pre-loaded corpora like the Brown Corpus, WordNet, and many others that are useful for training and testing NLP algorithms.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Modular Architecture: The library is organized into modules focused on specific NLP tasks, making it easy to use just the components you need.</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Core Functionality</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NLTK supports many essential NLP tasks: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Tokenization: Breaking text into words, sentences, or other meaningful elements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Part-of-speech tagging: Identifying the grammatical parts of speech for words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Named entity recognition: Identifying names of people, organizations, locations, etc.</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Stemming and lemmatization: Reducing words to their base or root form</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Parsing: Analyzing syntactic structures of sentences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Semantic analysis: Working with meaning representations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Sentiment analysis: Determining positive, negative, or neutral sentiment in text</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Tokenization</a:t>
            </a:r>
            <a:endParaRPr b="0" lang="en-US" sz="2800" strike="noStrike" u="none">
              <a:solidFill>
                <a:schemeClr val="dk1"/>
              </a:solidFill>
              <a:uFillTx/>
              <a:latin typeface="Calibri"/>
            </a:endParaRPr>
          </a:p>
        </p:txBody>
      </p:sp>
      <p:sp>
        <p:nvSpPr>
          <p:cNvPr id="109" name="PlaceHolder 2"/>
          <p:cNvSpPr>
            <a:spLocks noGrp="1"/>
          </p:cNvSpPr>
          <p:nvPr>
            <p:ph/>
          </p:nvPr>
        </p:nvSpPr>
        <p:spPr>
          <a:xfrm>
            <a:off x="838080" y="1706040"/>
            <a:ext cx="10515240" cy="49906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trike="noStrike" u="none">
                <a:solidFill>
                  <a:schemeClr val="dk1"/>
                </a:solidFill>
                <a:uFillTx/>
                <a:latin typeface="Calibri"/>
              </a:rPr>
              <a:t>Tokenization: Breaking text into words, phrases, or other meaningful elements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Word tokenization: Splitting "I love NLP." into ["I", "love", "NLP", "."]</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Subword tokenization: Breaking words into meaningful pieces (e.g., "playing" → ["play", "##ing"])</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Character tokenization: Splitting text into individual characters</a:t>
            </a:r>
            <a:endParaRPr b="0" lang="en-US" sz="2400" strike="noStrike" u="none">
              <a:solidFill>
                <a:schemeClr val="dk1"/>
              </a:solidFill>
              <a:uFillTx/>
              <a:latin typeface="Calibri"/>
            </a:endParaRPr>
          </a:p>
        </p:txBody>
      </p:sp>
      <p:pic>
        <p:nvPicPr>
          <p:cNvPr id="110" name="Content Placeholder 4" descr=""/>
          <p:cNvPicPr/>
          <p:nvPr/>
        </p:nvPicPr>
        <p:blipFill>
          <a:blip r:embed="rId1"/>
          <a:stretch/>
        </p:blipFill>
        <p:spPr>
          <a:xfrm>
            <a:off x="3099240" y="4028400"/>
            <a:ext cx="5993280" cy="212976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Tokenize text using NLTK package</a:t>
            </a:r>
            <a:endParaRPr b="0" lang="en-US" sz="2800" strike="noStrike" u="none">
              <a:solidFill>
                <a:schemeClr val="dk1"/>
              </a:solidFill>
              <a:uFillTx/>
              <a:latin typeface="Calibri"/>
            </a:endParaRPr>
          </a:p>
        </p:txBody>
      </p:sp>
      <p:sp>
        <p:nvSpPr>
          <p:cNvPr id="112" name="TextBox 5"/>
          <p:cNvSpPr/>
          <p:nvPr/>
        </p:nvSpPr>
        <p:spPr>
          <a:xfrm>
            <a:off x="982440" y="2526840"/>
            <a:ext cx="10132200" cy="171936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800" strike="noStrike" u="none">
                <a:solidFill>
                  <a:srgbClr val="0000ff"/>
                </a:solidFill>
                <a:uFillTx/>
                <a:latin typeface="Consolas"/>
              </a:rPr>
              <a:t>from</a:t>
            </a:r>
            <a:r>
              <a:rPr b="0" lang="en-US" sz="1800" strike="noStrike" u="none">
                <a:solidFill>
                  <a:srgbClr val="000000"/>
                </a:solidFill>
                <a:uFillTx/>
                <a:latin typeface="Consolas"/>
              </a:rPr>
              <a:t> nltk.tokenize </a:t>
            </a:r>
            <a:r>
              <a:rPr b="0" lang="en-US" sz="1800" strike="noStrike" u="none">
                <a:solidFill>
                  <a:srgbClr val="0000ff"/>
                </a:solidFill>
                <a:uFillTx/>
                <a:latin typeface="Consolas"/>
              </a:rPr>
              <a:t>import</a:t>
            </a:r>
            <a:r>
              <a:rPr b="0" lang="en-US" sz="1800" strike="noStrike" u="none">
                <a:solidFill>
                  <a:srgbClr val="000000"/>
                </a:solidFill>
                <a:uFillTx/>
                <a:latin typeface="Consolas"/>
              </a:rPr>
              <a:t> word_tokenize</a:t>
            </a:r>
            <a:endParaRPr b="0" lang="en-US" sz="1800" strike="noStrike" u="none">
              <a:solidFill>
                <a:srgbClr val="000000"/>
              </a:solidFill>
              <a:uFillTx/>
              <a:latin typeface="Arial"/>
            </a:endParaRPr>
          </a:p>
          <a:p>
            <a:pPr defTabSz="914400">
              <a:lnSpc>
                <a:spcPts val="1426"/>
              </a:lnSpc>
            </a:pPr>
            <a:r>
              <a:rPr b="0" lang="en-US" sz="1800" strike="noStrike" u="none">
                <a:solidFill>
                  <a:srgbClr val="008000"/>
                </a:solidFill>
                <a:uFillTx/>
                <a:latin typeface="Consolas"/>
              </a:rPr>
              <a:t>#punkt is a pretrained tokenization model used for splitting text into sentences and words.</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nltk.download(</a:t>
            </a:r>
            <a:r>
              <a:rPr b="0" lang="en-US" sz="1800" strike="noStrike" u="none">
                <a:solidFill>
                  <a:srgbClr val="a31515"/>
                </a:solidFill>
                <a:uFillTx/>
                <a:latin typeface="Consolas"/>
              </a:rPr>
              <a:t>'punkt'</a:t>
            </a:r>
            <a:r>
              <a:rPr b="0" lang="en-US" sz="1800" strike="noStrike" u="none">
                <a:solidFill>
                  <a:srgbClr val="000000"/>
                </a:solidFill>
                <a:uFillTx/>
                <a:latin typeface="Consolas"/>
              </a:rPr>
              <a:t>)</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sentence = </a:t>
            </a:r>
            <a:r>
              <a:rPr b="0" lang="en-US" sz="1800" strike="noStrike" u="none">
                <a:solidFill>
                  <a:srgbClr val="a31515"/>
                </a:solidFill>
                <a:uFillTx/>
                <a:latin typeface="Consolas"/>
              </a:rPr>
              <a:t>"Large language models are revolutionizing business applications."</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tokens = word_tokenize(sentence)</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print(tokens)</a:t>
            </a:r>
            <a:endParaRPr b="0" lang="en-US" sz="1800" strike="noStrike" u="none">
              <a:solidFill>
                <a:srgbClr val="000000"/>
              </a:solidFill>
              <a:uFillTx/>
              <a:latin typeface="Arial"/>
            </a:endParaRPr>
          </a:p>
        </p:txBody>
      </p:sp>
      <p:sp>
        <p:nvSpPr>
          <p:cNvPr id="113" name="TextBox 10"/>
          <p:cNvSpPr/>
          <p:nvPr/>
        </p:nvSpPr>
        <p:spPr>
          <a:xfrm>
            <a:off x="982440" y="4630680"/>
            <a:ext cx="9698040" cy="1461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trike="noStrike" u="none">
                <a:solidFill>
                  <a:srgbClr val="000000"/>
                </a:solidFill>
                <a:uFillTx/>
                <a:latin typeface="Consolas"/>
              </a:rPr>
              <a:t>Output:</a:t>
            </a:r>
            <a:endParaRPr b="0" lang="en-US" sz="1800" strike="noStrike" u="none">
              <a:solidFill>
                <a:srgbClr val="000000"/>
              </a:solidFill>
              <a:uFillTx/>
              <a:latin typeface="Arial"/>
            </a:endParaRPr>
          </a:p>
          <a:p>
            <a:pPr defTabSz="914400">
              <a:lnSpc>
                <a:spcPct val="100000"/>
              </a:lnSpc>
            </a:pPr>
            <a:r>
              <a:rPr b="0" lang="en-US" sz="1800" strike="noStrike" u="none">
                <a:solidFill>
                  <a:srgbClr val="000000"/>
                </a:solidFill>
                <a:uFillTx/>
                <a:latin typeface="Consolas"/>
              </a:rPr>
              <a:t>['Large', 'language', 'models', 'are', 'revolutionizing', 'business', 'applications', '.'] </a:t>
            </a:r>
            <a:endParaRPr b="0" lang="en-US" sz="1800" strike="noStrike" u="none">
              <a:solidFill>
                <a:srgbClr val="000000"/>
              </a:solidFill>
              <a:uFillTx/>
              <a:latin typeface="Arial"/>
            </a:endParaRPr>
          </a:p>
          <a:p>
            <a:pPr defTabSz="914400">
              <a:lnSpc>
                <a:spcPct val="100000"/>
              </a:lnSpc>
            </a:pPr>
            <a:r>
              <a:rPr b="0" lang="en-US" sz="1800" strike="noStrike" u="none">
                <a:solidFill>
                  <a:srgbClr val="000000"/>
                </a:solidFill>
                <a:uFillTx/>
                <a:latin typeface="Consolas"/>
              </a:rPr>
              <a:t>[nltk_data] Downloading package punkt to /home/me/nltk_data... [nltk_data] Package punkt is already up-to-date!</a:t>
            </a:r>
            <a:endParaRPr b="0" lang="en-US" sz="1800" strike="noStrike" u="none">
              <a:solidFill>
                <a:srgbClr val="000000"/>
              </a:solidFill>
              <a:uFillTx/>
              <a:latin typeface="Arial"/>
            </a:endParaRPr>
          </a:p>
        </p:txBody>
      </p:sp>
      <p:sp>
        <p:nvSpPr>
          <p:cNvPr id="114" name="Content Placeholder 2"/>
          <p:cNvSpPr/>
          <p:nvPr/>
        </p:nvSpPr>
        <p:spPr>
          <a:xfrm>
            <a:off x="10162800" y="6435720"/>
            <a:ext cx="1650600" cy="399600"/>
          </a:xfrm>
          <a:prstGeom prst="rect">
            <a:avLst/>
          </a:prstGeom>
          <a:noFill/>
          <a:ln w="0">
            <a:noFill/>
          </a:ln>
        </p:spPr>
        <p:style>
          <a:lnRef idx="0"/>
          <a:fillRef idx="0"/>
          <a:effectRef idx="0"/>
          <a:fontRef idx="minor"/>
        </p:style>
        <p:txBody>
          <a:bodyPr anchor="t">
            <a:normAutofit/>
          </a:bodyPr>
          <a:p>
            <a:pPr defTabSz="914400">
              <a:lnSpc>
                <a:spcPct val="90000"/>
              </a:lnSpc>
              <a:spcBef>
                <a:spcPts val="1001"/>
              </a:spcBef>
              <a:tabLst>
                <a:tab algn="l" pos="0"/>
              </a:tabLst>
            </a:pPr>
            <a:r>
              <a:rPr b="0" lang="en-US" sz="1400" strike="noStrike" u="none">
                <a:solidFill>
                  <a:srgbClr val="0070c0"/>
                </a:solidFill>
                <a:uFillTx/>
                <a:latin typeface="Calibri"/>
              </a:rPr>
              <a:t>Click to Open Code</a:t>
            </a:r>
            <a:endParaRPr b="0" lang="en-US" sz="1400" strike="noStrike" u="none">
              <a:solidFill>
                <a:srgbClr val="000000"/>
              </a:solidFill>
              <a:uFillTx/>
              <a:latin typeface="Arial"/>
            </a:endParaRPr>
          </a:p>
        </p:txBody>
      </p:sp>
      <p:pic>
        <p:nvPicPr>
          <p:cNvPr id="115" name="Graphic 6" descr="">
            <a:hlinkClick r:id="rId1"/>
          </p:cNvPr>
          <p:cNvPicPr/>
          <p:nvPr/>
        </p:nvPicPr>
        <p:blipFill>
          <a:blip r:embed="rId2">
            <a:extLst>
              <a:ext uri="{96DAC541-7B7A-43D3-8B79-37D633B846F1}">
                <asvg:svgBlip xmlns:asvg="http://schemas.microsoft.com/office/drawing/2016/SVG/main" r:embed="rId3"/>
              </a:ext>
            </a:extLst>
          </a:blip>
          <a:stretch/>
        </p:blipFill>
        <p:spPr>
          <a:xfrm>
            <a:off x="10431000" y="6231240"/>
            <a:ext cx="1114200" cy="19008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Normalization</a:t>
            </a:r>
            <a:endParaRPr b="0" lang="en-US" sz="2800" strike="noStrike" u="none">
              <a:solidFill>
                <a:schemeClr val="dk1"/>
              </a:solidFill>
              <a:uFillTx/>
              <a:latin typeface="Calibri"/>
            </a:endParaRPr>
          </a:p>
        </p:txBody>
      </p:sp>
      <p:sp>
        <p:nvSpPr>
          <p:cNvPr id="117" name="PlaceHolder 2"/>
          <p:cNvSpPr>
            <a:spLocks noGrp="1"/>
          </p:cNvSpPr>
          <p:nvPr>
            <p:ph/>
          </p:nvPr>
        </p:nvSpPr>
        <p:spPr>
          <a:xfrm>
            <a:off x="838080" y="1706040"/>
            <a:ext cx="10515240" cy="8204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Converting text to a standard form to reduce variability:</a:t>
            </a:r>
            <a:endParaRPr b="0" lang="en-US" sz="2400" strike="noStrike" u="none">
              <a:solidFill>
                <a:schemeClr val="dk1"/>
              </a:solidFill>
              <a:uFillTx/>
              <a:latin typeface="Calibri"/>
            </a:endParaRPr>
          </a:p>
        </p:txBody>
      </p:sp>
      <p:sp>
        <p:nvSpPr>
          <p:cNvPr id="118" name="TextBox 3"/>
          <p:cNvSpPr/>
          <p:nvPr/>
        </p:nvSpPr>
        <p:spPr>
          <a:xfrm>
            <a:off x="1242000" y="2526840"/>
            <a:ext cx="10224720" cy="171936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800" strike="noStrike" u="none">
                <a:solidFill>
                  <a:srgbClr val="008000"/>
                </a:solidFill>
                <a:uFillTx/>
                <a:latin typeface="Consolas"/>
              </a:rPr>
              <a:t># Lowercasing</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normalized_tokens = [token.lower() </a:t>
            </a:r>
            <a:r>
              <a:rPr b="0" lang="en-US" sz="1800" strike="noStrike" u="none">
                <a:solidFill>
                  <a:srgbClr val="0000ff"/>
                </a:solidFill>
                <a:uFillTx/>
                <a:latin typeface="Consolas"/>
              </a:rPr>
              <a:t>for</a:t>
            </a:r>
            <a:r>
              <a:rPr b="0" lang="en-US" sz="1800" strike="noStrike" u="none">
                <a:solidFill>
                  <a:srgbClr val="000000"/>
                </a:solidFill>
                <a:uFillTx/>
                <a:latin typeface="Consolas"/>
              </a:rPr>
              <a:t> token </a:t>
            </a:r>
            <a:r>
              <a:rPr b="0" lang="en-US" sz="1800" strike="noStrike" u="none">
                <a:solidFill>
                  <a:srgbClr val="0000ff"/>
                </a:solidFill>
                <a:uFillTx/>
                <a:latin typeface="Consolas"/>
              </a:rPr>
              <a:t>in</a:t>
            </a:r>
            <a:r>
              <a:rPr b="0" lang="en-US" sz="1800" strike="noStrike" u="none">
                <a:solidFill>
                  <a:srgbClr val="000000"/>
                </a:solidFill>
                <a:uFillTx/>
                <a:latin typeface="Consolas"/>
              </a:rPr>
              <a:t> tokens]</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print(normalized_tokens)</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8000"/>
                </a:solidFill>
                <a:uFillTx/>
                <a:latin typeface="Consolas"/>
              </a:rPr>
              <a:t># Removing punctuation</a:t>
            </a:r>
            <a:endParaRPr b="0" lang="en-US" sz="1800" strike="noStrike" u="none">
              <a:solidFill>
                <a:srgbClr val="000000"/>
              </a:solidFill>
              <a:uFillTx/>
              <a:latin typeface="Arial"/>
            </a:endParaRPr>
          </a:p>
          <a:p>
            <a:pPr defTabSz="914400">
              <a:lnSpc>
                <a:spcPts val="1426"/>
              </a:lnSpc>
            </a:pPr>
            <a:r>
              <a:rPr b="0" lang="en-US" sz="1800" strike="noStrike" u="none">
                <a:solidFill>
                  <a:srgbClr val="0000ff"/>
                </a:solidFill>
                <a:uFillTx/>
                <a:latin typeface="Consolas"/>
              </a:rPr>
              <a:t>import</a:t>
            </a:r>
            <a:r>
              <a:rPr b="0" lang="en-US" sz="1800" strike="noStrike" u="none">
                <a:solidFill>
                  <a:srgbClr val="000000"/>
                </a:solidFill>
                <a:uFillTx/>
                <a:latin typeface="Consolas"/>
              </a:rPr>
              <a:t> re</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normalized_tokens = [re.sub(</a:t>
            </a:r>
            <a:r>
              <a:rPr b="0" lang="en-US" sz="1800" strike="noStrike" u="none">
                <a:solidFill>
                  <a:srgbClr val="0000ff"/>
                </a:solidFill>
                <a:uFillTx/>
                <a:latin typeface="Consolas"/>
              </a:rPr>
              <a:t>r</a:t>
            </a:r>
            <a:r>
              <a:rPr b="0" lang="en-US" sz="1800" strike="noStrike" u="none">
                <a:solidFill>
                  <a:srgbClr val="811f3f"/>
                </a:solidFill>
                <a:uFillTx/>
                <a:latin typeface="Consolas"/>
              </a:rPr>
              <a:t>'[</a:t>
            </a:r>
            <a:r>
              <a:rPr b="0" lang="en-US" sz="1800" strike="noStrike" u="none">
                <a:solidFill>
                  <a:srgbClr val="000000"/>
                </a:solidFill>
                <a:uFillTx/>
                <a:latin typeface="Consolas"/>
              </a:rPr>
              <a:t>^</a:t>
            </a:r>
            <a:r>
              <a:rPr b="0" lang="en-US" sz="1800" strike="noStrike" u="none">
                <a:solidFill>
                  <a:srgbClr val="811f3f"/>
                </a:solidFill>
                <a:uFillTx/>
                <a:latin typeface="Consolas"/>
              </a:rPr>
              <a:t>\w\s]'</a:t>
            </a:r>
            <a:r>
              <a:rPr b="0" lang="en-US" sz="1800" strike="noStrike" u="none">
                <a:solidFill>
                  <a:srgbClr val="000000"/>
                </a:solidFill>
                <a:uFillTx/>
                <a:latin typeface="Consolas"/>
              </a:rPr>
              <a:t>, </a:t>
            </a:r>
            <a:r>
              <a:rPr b="0" lang="en-US" sz="1800" strike="noStrike" u="none">
                <a:solidFill>
                  <a:srgbClr val="a31515"/>
                </a:solidFill>
                <a:uFillTx/>
                <a:latin typeface="Consolas"/>
              </a:rPr>
              <a:t>''</a:t>
            </a:r>
            <a:r>
              <a:rPr b="0" lang="en-US" sz="1800" strike="noStrike" u="none">
                <a:solidFill>
                  <a:srgbClr val="000000"/>
                </a:solidFill>
                <a:uFillTx/>
                <a:latin typeface="Consolas"/>
              </a:rPr>
              <a:t>, token.lower()) </a:t>
            </a:r>
            <a:r>
              <a:rPr b="0" lang="en-US" sz="1800" strike="noStrike" u="none">
                <a:solidFill>
                  <a:srgbClr val="0000ff"/>
                </a:solidFill>
                <a:uFillTx/>
                <a:latin typeface="Consolas"/>
              </a:rPr>
              <a:t>for</a:t>
            </a:r>
            <a:r>
              <a:rPr b="0" lang="en-US" sz="1800" strike="noStrike" u="none">
                <a:solidFill>
                  <a:srgbClr val="000000"/>
                </a:solidFill>
                <a:uFillTx/>
                <a:latin typeface="Consolas"/>
              </a:rPr>
              <a:t> token </a:t>
            </a:r>
            <a:r>
              <a:rPr b="0" lang="en-US" sz="1800" strike="noStrike" u="none">
                <a:solidFill>
                  <a:srgbClr val="0000ff"/>
                </a:solidFill>
                <a:uFillTx/>
                <a:latin typeface="Consolas"/>
              </a:rPr>
              <a:t>in</a:t>
            </a:r>
            <a:r>
              <a:rPr b="0" lang="en-US" sz="1800" strike="noStrike" u="none">
                <a:solidFill>
                  <a:srgbClr val="000000"/>
                </a:solidFill>
                <a:uFillTx/>
                <a:latin typeface="Consolas"/>
              </a:rPr>
              <a:t> tokens]</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print(normalized_tokens)</a:t>
            </a:r>
            <a:endParaRPr b="0" lang="en-US" sz="1800" strike="noStrike" u="none">
              <a:solidFill>
                <a:srgbClr val="000000"/>
              </a:solidFill>
              <a:uFillTx/>
              <a:latin typeface="Arial"/>
            </a:endParaRPr>
          </a:p>
        </p:txBody>
      </p:sp>
      <p:sp>
        <p:nvSpPr>
          <p:cNvPr id="119" name="TextBox 1043"/>
          <p:cNvSpPr/>
          <p:nvPr/>
        </p:nvSpPr>
        <p:spPr>
          <a:xfrm>
            <a:off x="7755120" y="4136040"/>
            <a:ext cx="3867840" cy="17355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trike="noStrike" u="none">
                <a:solidFill>
                  <a:schemeClr val="dk1"/>
                </a:solidFill>
                <a:uFillTx/>
                <a:latin typeface="Calibri"/>
              </a:rPr>
              <a:t>Output:</a:t>
            </a:r>
            <a:endParaRPr b="0" lang="en-US" sz="1800" strike="noStrike" u="none">
              <a:solidFill>
                <a:srgbClr val="000000"/>
              </a:solidFill>
              <a:uFillTx/>
              <a:latin typeface="Arial"/>
            </a:endParaRPr>
          </a:p>
          <a:p>
            <a:pPr defTabSz="914400">
              <a:lnSpc>
                <a:spcPct val="100000"/>
              </a:lnSpc>
            </a:pPr>
            <a:r>
              <a:rPr b="0" lang="en-US" sz="1800" strike="noStrike" u="none">
                <a:solidFill>
                  <a:schemeClr val="dk1"/>
                </a:solidFill>
                <a:uFillTx/>
                <a:latin typeface="Calibri"/>
              </a:rPr>
              <a:t>['large', 'language', 'models', 'are', 'revolutionizing', 'business', 'applications', '.']['large', 'language', 'models', 'are', 'revolutionizing', 'business', 'applications', '']</a:t>
            </a:r>
            <a:endParaRPr b="0" lang="en-US" sz="1800" strike="noStrike" u="none">
              <a:solidFill>
                <a:srgbClr val="000000"/>
              </a:solidFill>
              <a:uFillTx/>
              <a:latin typeface="Arial"/>
            </a:endParaRPr>
          </a:p>
        </p:txBody>
      </p:sp>
      <p:sp>
        <p:nvSpPr>
          <p:cNvPr id="120" name="TextBox 7"/>
          <p:cNvSpPr/>
          <p:nvPr/>
        </p:nvSpPr>
        <p:spPr>
          <a:xfrm>
            <a:off x="1242000" y="4070160"/>
            <a:ext cx="6305760" cy="316800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200" strike="noStrike" u="none">
                <a:solidFill>
                  <a:srgbClr val="000000"/>
                </a:solidFill>
                <a:uFillTx/>
                <a:latin typeface="Consolas"/>
              </a:rPr>
              <a:t>The regular expression r'[^\w\s]' does the following:</a:t>
            </a:r>
            <a:endParaRPr b="0" lang="en-US" sz="1200" strike="noStrike" u="none">
              <a:solidFill>
                <a:srgbClr val="000000"/>
              </a:solidFill>
              <a:uFillTx/>
              <a:latin typeface="Arial"/>
            </a:endParaRPr>
          </a:p>
          <a:p>
            <a:pPr marL="171360" indent="-171360" defTabSz="914400">
              <a:lnSpc>
                <a:spcPts val="1426"/>
              </a:lnSpc>
              <a:buClr>
                <a:srgbClr val="000000"/>
              </a:buClr>
              <a:buFont typeface="Arial"/>
              <a:buChar char="•"/>
            </a:pPr>
            <a:r>
              <a:rPr b="0" lang="en-US" sz="1200" strike="noStrike" u="none">
                <a:solidFill>
                  <a:srgbClr val="000000"/>
                </a:solidFill>
                <a:uFillTx/>
                <a:latin typeface="Consolas"/>
              </a:rPr>
              <a:t>r'...': This denotes a raw string in Python. Raw strings treat backslashes \ as literal characters, which is crucial for regular expressions.</a:t>
            </a:r>
            <a:endParaRPr b="0" lang="en-US" sz="1200" strike="noStrike" u="none">
              <a:solidFill>
                <a:srgbClr val="000000"/>
              </a:solidFill>
              <a:uFillTx/>
              <a:latin typeface="Arial"/>
            </a:endParaRPr>
          </a:p>
          <a:p>
            <a:pPr marL="171360" indent="-171360" defTabSz="914400">
              <a:lnSpc>
                <a:spcPts val="1426"/>
              </a:lnSpc>
              <a:buClr>
                <a:srgbClr val="000000"/>
              </a:buClr>
              <a:buFont typeface="Arial"/>
              <a:buChar char="•"/>
            </a:pPr>
            <a:r>
              <a:rPr b="0" lang="en-US" sz="1200" strike="noStrike" u="none">
                <a:solidFill>
                  <a:srgbClr val="000000"/>
                </a:solidFill>
                <a:uFillTx/>
                <a:latin typeface="Consolas"/>
              </a:rPr>
              <a:t>[...]: This represents a character set.^: Inside a character set, ^ negates the set. It means "match any character not in this set.</a:t>
            </a:r>
            <a:endParaRPr b="0" lang="en-US" sz="1200" strike="noStrike" u="none">
              <a:solidFill>
                <a:srgbClr val="000000"/>
              </a:solidFill>
              <a:uFillTx/>
              <a:latin typeface="Arial"/>
            </a:endParaRPr>
          </a:p>
          <a:p>
            <a:pPr marL="171360" indent="-171360" defTabSz="914400">
              <a:lnSpc>
                <a:spcPts val="1426"/>
              </a:lnSpc>
              <a:buClr>
                <a:srgbClr val="000000"/>
              </a:buClr>
              <a:buFont typeface="Arial"/>
              <a:buChar char="•"/>
            </a:pPr>
            <a:r>
              <a:rPr b="0" lang="en-US" sz="1200" strike="noStrike" u="none">
                <a:solidFill>
                  <a:srgbClr val="000000"/>
                </a:solidFill>
                <a:uFillTx/>
                <a:latin typeface="Consolas"/>
              </a:rPr>
              <a:t>"\w: This matches any word character, which includes alphanumeric characters (letters and digits) and the underscore (_).</a:t>
            </a:r>
            <a:endParaRPr b="0" lang="en-US" sz="1200" strike="noStrike" u="none">
              <a:solidFill>
                <a:srgbClr val="000000"/>
              </a:solidFill>
              <a:uFillTx/>
              <a:latin typeface="Arial"/>
            </a:endParaRPr>
          </a:p>
          <a:p>
            <a:pPr marL="171360" indent="-171360" defTabSz="914400">
              <a:lnSpc>
                <a:spcPts val="1426"/>
              </a:lnSpc>
              <a:buClr>
                <a:srgbClr val="000000"/>
              </a:buClr>
              <a:buFont typeface="Arial"/>
              <a:buChar char="•"/>
            </a:pPr>
            <a:r>
              <a:rPr b="0" lang="en-US" sz="1200" strike="noStrike" u="none">
                <a:solidFill>
                  <a:srgbClr val="000000"/>
                </a:solidFill>
                <a:uFillTx/>
                <a:latin typeface="Consolas"/>
              </a:rPr>
              <a:t>\s: This matches any whitespace character, such as spaces, tabs, and newlines.</a:t>
            </a:r>
            <a:endParaRPr b="0" lang="en-US" sz="1200" strike="noStrike" u="none">
              <a:solidFill>
                <a:srgbClr val="000000"/>
              </a:solidFill>
              <a:uFillTx/>
              <a:latin typeface="Arial"/>
            </a:endParaRPr>
          </a:p>
          <a:p>
            <a:pPr marL="171360" indent="-171360" defTabSz="914400">
              <a:lnSpc>
                <a:spcPts val="1426"/>
              </a:lnSpc>
              <a:buClr>
                <a:srgbClr val="000000"/>
              </a:buClr>
              <a:buFont typeface="Arial"/>
              <a:buChar char="•"/>
            </a:pPr>
            <a:r>
              <a:rPr b="0" lang="en-US" sz="1200" strike="noStrike" u="none">
                <a:solidFill>
                  <a:srgbClr val="000000"/>
                </a:solidFill>
                <a:uFillTx/>
                <a:latin typeface="Consolas"/>
              </a:rPr>
              <a:t>Therefore, r'[^\w\s]' matches any character that is not a word character or a whitespace character. In simpler terms, it matches any non-alphanumeric, non-underscore, and non-whitespace character. This effectively targets punctuation marks, symbols, and other special characters.</a:t>
            </a:r>
            <a:endParaRPr b="0" lang="en-US" sz="12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Stopwords Removal</a:t>
            </a:r>
            <a:endParaRPr b="0" lang="en-US" sz="2800" strike="noStrike" u="none">
              <a:solidFill>
                <a:schemeClr val="dk1"/>
              </a:solidFill>
              <a:uFillTx/>
              <a:latin typeface="Calibri"/>
            </a:endParaRPr>
          </a:p>
        </p:txBody>
      </p:sp>
      <p:sp>
        <p:nvSpPr>
          <p:cNvPr id="122" name="PlaceHolder 2"/>
          <p:cNvSpPr>
            <a:spLocks noGrp="1"/>
          </p:cNvSpPr>
          <p:nvPr>
            <p:ph/>
          </p:nvPr>
        </p:nvSpPr>
        <p:spPr>
          <a:xfrm>
            <a:off x="838080" y="1706040"/>
            <a:ext cx="10515240" cy="2519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Eliminating common words that add little meaning:</a:t>
            </a:r>
            <a:endParaRPr b="0" lang="en-US" sz="2400" strike="noStrike" u="none">
              <a:solidFill>
                <a:schemeClr val="dk1"/>
              </a:solidFill>
              <a:uFillTx/>
              <a:latin typeface="Calibri"/>
            </a:endParaRPr>
          </a:p>
        </p:txBody>
      </p:sp>
      <p:sp>
        <p:nvSpPr>
          <p:cNvPr id="123" name="TextBox 4"/>
          <p:cNvSpPr/>
          <p:nvPr/>
        </p:nvSpPr>
        <p:spPr>
          <a:xfrm>
            <a:off x="1068840" y="2567520"/>
            <a:ext cx="9409320" cy="171936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2000" strike="noStrike" u="none">
                <a:solidFill>
                  <a:srgbClr val="008000"/>
                </a:solidFill>
                <a:uFillTx/>
                <a:latin typeface="Courier New"/>
              </a:rPr>
              <a:t>#nltk.download('stopwords') #stopwords are common words that are often removed from text as they are not useful for analysis.</a:t>
            </a:r>
            <a:endParaRPr b="0" lang="en-US" sz="2000" strike="noStrike" u="none">
              <a:solidFill>
                <a:srgbClr val="000000"/>
              </a:solidFill>
              <a:uFillTx/>
              <a:latin typeface="Arial"/>
            </a:endParaRPr>
          </a:p>
          <a:p>
            <a:pPr defTabSz="914400">
              <a:lnSpc>
                <a:spcPts val="1426"/>
              </a:lnSpc>
            </a:pPr>
            <a:r>
              <a:rPr b="0" lang="en-US" sz="2000" strike="noStrike" u="none">
                <a:solidFill>
                  <a:srgbClr val="af00db"/>
                </a:solidFill>
                <a:uFillTx/>
                <a:latin typeface="Courier New"/>
              </a:rPr>
              <a:t>from</a:t>
            </a:r>
            <a:r>
              <a:rPr b="0" lang="en-US" sz="2000" strike="noStrike" u="none">
                <a:solidFill>
                  <a:srgbClr val="000000"/>
                </a:solidFill>
                <a:uFillTx/>
                <a:latin typeface="Courier New"/>
              </a:rPr>
              <a:t> nltk.corpus </a:t>
            </a:r>
            <a:r>
              <a:rPr b="0" lang="en-US" sz="2000" strike="noStrike" u="none">
                <a:solidFill>
                  <a:srgbClr val="af00db"/>
                </a:solidFill>
                <a:uFillTx/>
                <a:latin typeface="Courier New"/>
              </a:rPr>
              <a:t>import</a:t>
            </a:r>
            <a:r>
              <a:rPr b="0" lang="en-US" sz="2000" strike="noStrike" u="none">
                <a:solidFill>
                  <a:srgbClr val="000000"/>
                </a:solidFill>
                <a:uFillTx/>
                <a:latin typeface="Courier New"/>
              </a:rPr>
              <a:t> stopwords</a:t>
            </a:r>
            <a:endParaRPr b="0" lang="en-US" sz="2000" strike="noStrike" u="none">
              <a:solidFill>
                <a:srgbClr val="000000"/>
              </a:solidFill>
              <a:uFillTx/>
              <a:latin typeface="Arial"/>
            </a:endParaRPr>
          </a:p>
          <a:p>
            <a:pPr defTabSz="914400">
              <a:lnSpc>
                <a:spcPts val="1426"/>
              </a:lnSpc>
            </a:pPr>
            <a:br>
              <a:rPr sz="2000"/>
            </a:br>
            <a:r>
              <a:rPr b="0" lang="en-US" sz="2000" strike="noStrike" u="none">
                <a:solidFill>
                  <a:srgbClr val="000000"/>
                </a:solidFill>
                <a:uFillTx/>
                <a:latin typeface="Courier New"/>
              </a:rPr>
              <a:t>nltk.download(</a:t>
            </a:r>
            <a:r>
              <a:rPr b="0" lang="en-US" sz="2000" strike="noStrike" u="none">
                <a:solidFill>
                  <a:srgbClr val="a31515"/>
                </a:solidFill>
                <a:uFillTx/>
                <a:latin typeface="Courier New"/>
              </a:rPr>
              <a:t>'stopwords'</a:t>
            </a:r>
            <a:r>
              <a:rPr b="0" lang="en-US" sz="2000" strike="noStrike" u="none">
                <a:solidFill>
                  <a:srgbClr val="000000"/>
                </a:solidFill>
                <a:uFillTx/>
                <a:latin typeface="Courier New"/>
              </a:rPr>
              <a:t>)</a:t>
            </a:r>
            <a:endParaRPr b="0" lang="en-US" sz="2000" strike="noStrike" u="none">
              <a:solidFill>
                <a:srgbClr val="000000"/>
              </a:solidFill>
              <a:uFillTx/>
              <a:latin typeface="Arial"/>
            </a:endParaRPr>
          </a:p>
          <a:p>
            <a:pPr defTabSz="914400">
              <a:lnSpc>
                <a:spcPts val="1426"/>
              </a:lnSpc>
            </a:pPr>
            <a:r>
              <a:rPr b="0" lang="en-US" sz="2000" strike="noStrike" u="none">
                <a:solidFill>
                  <a:srgbClr val="000000"/>
                </a:solidFill>
                <a:uFillTx/>
                <a:latin typeface="Courier New"/>
              </a:rPr>
              <a:t>stop_words = </a:t>
            </a:r>
            <a:r>
              <a:rPr b="0" lang="en-US" sz="2000" strike="noStrike" u="none">
                <a:solidFill>
                  <a:srgbClr val="257693"/>
                </a:solidFill>
                <a:uFillTx/>
                <a:latin typeface="Courier New"/>
              </a:rPr>
              <a:t>set</a:t>
            </a:r>
            <a:r>
              <a:rPr b="0" lang="en-US" sz="2000" strike="noStrike" u="none">
                <a:solidFill>
                  <a:srgbClr val="000000"/>
                </a:solidFill>
                <a:uFillTx/>
                <a:latin typeface="Courier New"/>
              </a:rPr>
              <a:t>(stopwords.words(</a:t>
            </a:r>
            <a:r>
              <a:rPr b="0" lang="en-US" sz="2000" strike="noStrike" u="none">
                <a:solidFill>
                  <a:srgbClr val="a31515"/>
                </a:solidFill>
                <a:uFillTx/>
                <a:latin typeface="Courier New"/>
              </a:rPr>
              <a:t>'english'</a:t>
            </a:r>
            <a:r>
              <a:rPr b="0" lang="en-US" sz="2000" strike="noStrike" u="none">
                <a:solidFill>
                  <a:srgbClr val="000000"/>
                </a:solidFill>
                <a:uFillTx/>
                <a:latin typeface="Courier New"/>
              </a:rPr>
              <a:t>))</a:t>
            </a:r>
            <a:endParaRPr b="0" lang="en-US" sz="2000" strike="noStrike" u="none">
              <a:solidFill>
                <a:srgbClr val="000000"/>
              </a:solidFill>
              <a:uFillTx/>
              <a:latin typeface="Arial"/>
            </a:endParaRPr>
          </a:p>
          <a:p>
            <a:pPr defTabSz="914400">
              <a:lnSpc>
                <a:spcPts val="1426"/>
              </a:lnSpc>
            </a:pPr>
            <a:br>
              <a:rPr sz="2000"/>
            </a:br>
            <a:r>
              <a:rPr b="0" lang="en-US" sz="2000" strike="noStrike" u="none">
                <a:solidFill>
                  <a:srgbClr val="795e26"/>
                </a:solidFill>
                <a:uFillTx/>
                <a:latin typeface="Courier New"/>
              </a:rPr>
              <a:t>print</a:t>
            </a:r>
            <a:r>
              <a:rPr b="0" lang="en-US" sz="2000" strike="noStrike" u="none">
                <a:solidFill>
                  <a:srgbClr val="000000"/>
                </a:solidFill>
                <a:uFillTx/>
                <a:latin typeface="Courier New"/>
              </a:rPr>
              <a:t>(</a:t>
            </a:r>
            <a:r>
              <a:rPr b="0" lang="en-US" sz="2000" strike="noStrike" u="none">
                <a:solidFill>
                  <a:srgbClr val="a31515"/>
                </a:solidFill>
                <a:uFillTx/>
                <a:latin typeface="Courier New"/>
              </a:rPr>
              <a:t>"These words are removed from the text: "</a:t>
            </a:r>
            <a:r>
              <a:rPr b="0" lang="en-US" sz="2000" strike="noStrike" u="none">
                <a:solidFill>
                  <a:srgbClr val="000000"/>
                </a:solidFill>
                <a:uFillTx/>
                <a:latin typeface="Courier New"/>
              </a:rPr>
              <a:t>, stop_words)</a:t>
            </a:r>
            <a:endParaRPr b="0" lang="en-US" sz="2000" strike="noStrike" u="none">
              <a:solidFill>
                <a:srgbClr val="000000"/>
              </a:solidFill>
              <a:uFillTx/>
              <a:latin typeface="Arial"/>
            </a:endParaRPr>
          </a:p>
        </p:txBody>
      </p:sp>
      <p:sp>
        <p:nvSpPr>
          <p:cNvPr id="124" name="TextBox 6"/>
          <p:cNvSpPr/>
          <p:nvPr/>
        </p:nvSpPr>
        <p:spPr>
          <a:xfrm>
            <a:off x="838080" y="5383440"/>
            <a:ext cx="10400400" cy="1186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trike="noStrike" u="none">
                <a:solidFill>
                  <a:srgbClr val="000000"/>
                </a:solidFill>
                <a:uFillTx/>
                <a:latin typeface="var(--notebook-cell-output-font-family)"/>
              </a:rPr>
              <a:t>Output:</a:t>
            </a:r>
            <a:endParaRPr b="0" lang="en-US" sz="1800" strike="noStrike" u="none">
              <a:solidFill>
                <a:srgbClr val="000000"/>
              </a:solidFill>
              <a:uFillTx/>
              <a:latin typeface="Arial"/>
            </a:endParaRPr>
          </a:p>
          <a:p>
            <a:pPr defTabSz="914400">
              <a:lnSpc>
                <a:spcPct val="100000"/>
              </a:lnSpc>
            </a:pPr>
            <a:r>
              <a:rPr b="0" lang="en-US" sz="1800" strike="noStrike" u="none">
                <a:solidFill>
                  <a:srgbClr val="000000"/>
                </a:solidFill>
                <a:uFillTx/>
                <a:latin typeface="var(--notebook-cell-output-font-family)"/>
              </a:rPr>
              <a:t>These words are removed from the text: {'during', 'off', 'each', 'own', 'nor', "we've", "you'll", 'ourselves', 'between', 'same', 'such', 'against', 'but', "mustn't", "aren't", "wouldn't", </a:t>
            </a:r>
            <a:br>
              <a:rPr sz="1800"/>
            </a:br>
            <a:endParaRPr b="0" lang="en-US" sz="18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Stemming and Lemmatization</a:t>
            </a:r>
            <a:endParaRPr b="0" lang="en-US" sz="2800" strike="noStrike" u="none">
              <a:solidFill>
                <a:schemeClr val="dk1"/>
              </a:solidFill>
              <a:uFillTx/>
              <a:latin typeface="Calibri"/>
            </a:endParaRPr>
          </a:p>
        </p:txBody>
      </p:sp>
      <p:sp>
        <p:nvSpPr>
          <p:cNvPr id="126" name="PlaceHolder 2"/>
          <p:cNvSpPr>
            <a:spLocks noGrp="1"/>
          </p:cNvSpPr>
          <p:nvPr>
            <p:ph/>
          </p:nvPr>
        </p:nvSpPr>
        <p:spPr>
          <a:xfrm>
            <a:off x="838080" y="1706040"/>
            <a:ext cx="10515240" cy="1623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Stemming and lemmatization are text normalization techniques used in Natural Language Processing (NLP) to reduce words to their base or root forms. </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They help in improving search engines, text mining, and language modeling by standardizing words with similar meanings.</a:t>
            </a:r>
            <a:endParaRPr b="0" lang="en-US" sz="2400" strike="noStrike" u="none">
              <a:solidFill>
                <a:schemeClr val="dk1"/>
              </a:solidFill>
              <a:uFillTx/>
              <a:latin typeface="Calibri"/>
            </a:endParaRPr>
          </a:p>
        </p:txBody>
      </p:sp>
      <p:pic>
        <p:nvPicPr>
          <p:cNvPr id="127" name="Picture 4" descr=""/>
          <p:cNvPicPr/>
          <p:nvPr/>
        </p:nvPicPr>
        <p:blipFill>
          <a:blip r:embed="rId1"/>
          <a:stretch/>
        </p:blipFill>
        <p:spPr>
          <a:xfrm>
            <a:off x="3308760" y="3490560"/>
            <a:ext cx="5573880" cy="304992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Stemming</a:t>
            </a:r>
            <a:endParaRPr b="0" lang="en-US" sz="2800" strike="noStrike" u="none">
              <a:solidFill>
                <a:schemeClr val="dk1"/>
              </a:solidFill>
              <a:uFillTx/>
              <a:latin typeface="Calibri"/>
            </a:endParaRPr>
          </a:p>
        </p:txBody>
      </p:sp>
      <p:sp>
        <p:nvSpPr>
          <p:cNvPr id="129"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Definition: Stemming is a rule-based process that removes prefixes and suffixes (affixes) from a word to obtain its base form, often producing words that may not be actual words.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Method: Uses algorithms like Porter Stemmer and Snowball Stemmer.</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Example:</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"Running" → "Run"</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"Studies" → "Studi"</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"Better" → "Better" (Incorrectly unchanged)</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"Caring" → "Car" </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Limitations: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Often results in words that are not real words ("Studies" → "Studi").</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Does not consider the actual meaning of words.</a:t>
            </a:r>
            <a:endParaRPr b="0" lang="en-US" sz="20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Lemmatization</a:t>
            </a:r>
            <a:endParaRPr b="0" lang="en-US" sz="2800" strike="noStrike" u="none">
              <a:solidFill>
                <a:schemeClr val="dk1"/>
              </a:solidFill>
              <a:uFillTx/>
              <a:latin typeface="Calibri"/>
            </a:endParaRPr>
          </a:p>
        </p:txBody>
      </p:sp>
      <p:sp>
        <p:nvSpPr>
          <p:cNvPr id="131"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fontScale="92500" lnSpcReduction="9999"/>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Definition: Lemmatization is a dictionary-based approach that reduces words to their meaningful root form (lemma), considering the word's context and part of speech.</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Method: Uses linguistic analysis and dictionaries (like WordNet Lemmatizer).</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Example:</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"Running" → "Run"</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"Studies" → "Study"</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"Better" → "Good" (Correct Lemma)</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"Caring" → "Care"  </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Advantages:</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More accurate than stemming.</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Produces real words with proper meanings.</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Use Cases:  </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Stemming is useful when speed is more important than accuracy (e.g., search engines).  </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Lemmatization is better for semantic analysis where meaning matters (e.g., AI chatbots, NLP applications).</a:t>
            </a:r>
            <a:endParaRPr b="0" lang="en-US" sz="2000" strike="noStrike" u="none">
              <a:solidFill>
                <a:schemeClr val="dk1"/>
              </a:solidFill>
              <a:uFillTx/>
              <a:latin typeface="Calibri"/>
            </a:endParaRPr>
          </a:p>
          <a:p>
            <a:pPr indent="0" defTabSz="914400">
              <a:lnSpc>
                <a:spcPct val="90000"/>
              </a:lnSpc>
              <a:spcBef>
                <a:spcPts val="499"/>
              </a:spcBef>
              <a:buNone/>
            </a:pPr>
            <a:endParaRPr b="0" lang="en-US" sz="20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TextBox 4"/>
          <p:cNvSpPr/>
          <p:nvPr/>
        </p:nvSpPr>
        <p:spPr>
          <a:xfrm>
            <a:off x="838080" y="1239840"/>
            <a:ext cx="10454400" cy="117612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nb-NO" sz="1800" strike="noStrike" u="none">
                <a:solidFill>
                  <a:srgbClr val="0000ff"/>
                </a:solidFill>
                <a:uFillTx/>
                <a:latin typeface="Consolas"/>
              </a:rPr>
              <a:t>from</a:t>
            </a:r>
            <a:r>
              <a:rPr b="0" lang="nb-NO" sz="1800" strike="noStrike" u="none">
                <a:solidFill>
                  <a:srgbClr val="000000"/>
                </a:solidFill>
                <a:uFillTx/>
                <a:latin typeface="Consolas"/>
              </a:rPr>
              <a:t> nltk.stem </a:t>
            </a:r>
            <a:r>
              <a:rPr b="0" lang="nb-NO" sz="1800" strike="noStrike" u="none">
                <a:solidFill>
                  <a:srgbClr val="0000ff"/>
                </a:solidFill>
                <a:uFillTx/>
                <a:latin typeface="Consolas"/>
              </a:rPr>
              <a:t>import</a:t>
            </a:r>
            <a:r>
              <a:rPr b="0" lang="nb-NO" sz="1800" strike="noStrike" u="none">
                <a:solidFill>
                  <a:srgbClr val="000000"/>
                </a:solidFill>
                <a:uFillTx/>
                <a:latin typeface="Consolas"/>
              </a:rPr>
              <a:t> PorterStemmer</a:t>
            </a:r>
            <a:endParaRPr b="0" lang="en-US" sz="1800" strike="noStrike" u="none">
              <a:solidFill>
                <a:srgbClr val="000000"/>
              </a:solidFill>
              <a:uFillTx/>
              <a:latin typeface="Arial"/>
            </a:endParaRPr>
          </a:p>
          <a:p>
            <a:pPr defTabSz="914400">
              <a:lnSpc>
                <a:spcPts val="1426"/>
              </a:lnSpc>
            </a:pPr>
            <a:br>
              <a:rPr sz="1800"/>
            </a:br>
            <a:r>
              <a:rPr b="0" lang="nb-NO" sz="1800" strike="noStrike" u="none">
                <a:solidFill>
                  <a:srgbClr val="000000"/>
                </a:solidFill>
                <a:uFillTx/>
                <a:latin typeface="Consolas"/>
              </a:rPr>
              <a:t>stemmer = PorterStemmer()</a:t>
            </a:r>
            <a:endParaRPr b="0" lang="en-US" sz="1800" strike="noStrike" u="none">
              <a:solidFill>
                <a:srgbClr val="000000"/>
              </a:solidFill>
              <a:uFillTx/>
              <a:latin typeface="Arial"/>
            </a:endParaRPr>
          </a:p>
          <a:p>
            <a:pPr defTabSz="914400">
              <a:lnSpc>
                <a:spcPts val="1426"/>
              </a:lnSpc>
            </a:pPr>
            <a:r>
              <a:rPr b="0" lang="nb-NO" sz="1800" strike="noStrike" u="none">
                <a:solidFill>
                  <a:srgbClr val="000000"/>
                </a:solidFill>
                <a:uFillTx/>
                <a:latin typeface="Consolas"/>
              </a:rPr>
              <a:t>stemmed_tokens = [stemmer.stem(token) </a:t>
            </a:r>
            <a:r>
              <a:rPr b="0" lang="nb-NO" sz="1800" strike="noStrike" u="none">
                <a:solidFill>
                  <a:srgbClr val="0000ff"/>
                </a:solidFill>
                <a:uFillTx/>
                <a:latin typeface="Consolas"/>
              </a:rPr>
              <a:t>for</a:t>
            </a:r>
            <a:r>
              <a:rPr b="0" lang="nb-NO" sz="1800" strike="noStrike" u="none">
                <a:solidFill>
                  <a:srgbClr val="000000"/>
                </a:solidFill>
                <a:uFillTx/>
                <a:latin typeface="Consolas"/>
              </a:rPr>
              <a:t> token </a:t>
            </a:r>
            <a:r>
              <a:rPr b="0" lang="nb-NO" sz="1800" strike="noStrike" u="none">
                <a:solidFill>
                  <a:srgbClr val="0000ff"/>
                </a:solidFill>
                <a:uFillTx/>
                <a:latin typeface="Consolas"/>
              </a:rPr>
              <a:t>in</a:t>
            </a:r>
            <a:r>
              <a:rPr b="0" lang="nb-NO" sz="1800" strike="noStrike" u="none">
                <a:solidFill>
                  <a:srgbClr val="000000"/>
                </a:solidFill>
                <a:uFillTx/>
                <a:latin typeface="Consolas"/>
              </a:rPr>
              <a:t> filtered_tokens]</a:t>
            </a:r>
            <a:endParaRPr b="0" lang="en-US" sz="1800" strike="noStrike" u="none">
              <a:solidFill>
                <a:srgbClr val="000000"/>
              </a:solidFill>
              <a:uFillTx/>
              <a:latin typeface="Arial"/>
            </a:endParaRPr>
          </a:p>
          <a:p>
            <a:pPr defTabSz="914400">
              <a:lnSpc>
                <a:spcPts val="1426"/>
              </a:lnSpc>
            </a:pPr>
            <a:br>
              <a:rPr sz="1800"/>
            </a:br>
            <a:r>
              <a:rPr b="0" lang="nb-NO" sz="1800" strike="noStrike" u="none">
                <a:solidFill>
                  <a:srgbClr val="000000"/>
                </a:solidFill>
                <a:uFillTx/>
                <a:latin typeface="Consolas"/>
              </a:rPr>
              <a:t>print(stemmed_tokens)</a:t>
            </a:r>
            <a:endParaRPr b="0" lang="en-US" sz="1800" strike="noStrike" u="none">
              <a:solidFill>
                <a:srgbClr val="000000"/>
              </a:solidFill>
              <a:uFillTx/>
              <a:latin typeface="Arial"/>
            </a:endParaRPr>
          </a:p>
        </p:txBody>
      </p:sp>
      <p:sp>
        <p:nvSpPr>
          <p:cNvPr id="133" name="TextBox 6"/>
          <p:cNvSpPr/>
          <p:nvPr/>
        </p:nvSpPr>
        <p:spPr>
          <a:xfrm>
            <a:off x="838080" y="4150080"/>
            <a:ext cx="10637280" cy="171936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800" strike="noStrike" u="none">
                <a:solidFill>
                  <a:srgbClr val="008000"/>
                </a:solidFill>
                <a:uFillTx/>
                <a:latin typeface="Consolas"/>
              </a:rPr>
              <a:t>#nltk.download('wordnet')</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ff"/>
                </a:solidFill>
                <a:uFillTx/>
                <a:latin typeface="Consolas"/>
              </a:rPr>
              <a:t>from</a:t>
            </a:r>
            <a:r>
              <a:rPr b="0" lang="en-US" sz="1800" strike="noStrike" u="none">
                <a:solidFill>
                  <a:srgbClr val="000000"/>
                </a:solidFill>
                <a:uFillTx/>
                <a:latin typeface="Consolas"/>
              </a:rPr>
              <a:t> nltk.stem </a:t>
            </a:r>
            <a:r>
              <a:rPr b="0" lang="en-US" sz="1800" strike="noStrike" u="none">
                <a:solidFill>
                  <a:srgbClr val="0000ff"/>
                </a:solidFill>
                <a:uFillTx/>
                <a:latin typeface="Consolas"/>
              </a:rPr>
              <a:t>import</a:t>
            </a:r>
            <a:r>
              <a:rPr b="0" lang="en-US" sz="1800" strike="noStrike" u="none">
                <a:solidFill>
                  <a:srgbClr val="000000"/>
                </a:solidFill>
                <a:uFillTx/>
                <a:latin typeface="Consolas"/>
              </a:rPr>
              <a:t> WordNetLemmatizer</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lemmatizer = WordNetLemmatizer()</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lemmatized_tokens = [lemmatizer.lemmatize(token) </a:t>
            </a:r>
            <a:r>
              <a:rPr b="0" lang="en-US" sz="1800" strike="noStrike" u="none">
                <a:solidFill>
                  <a:srgbClr val="0000ff"/>
                </a:solidFill>
                <a:uFillTx/>
                <a:latin typeface="Consolas"/>
              </a:rPr>
              <a:t>for</a:t>
            </a:r>
            <a:r>
              <a:rPr b="0" lang="en-US" sz="1800" strike="noStrike" u="none">
                <a:solidFill>
                  <a:srgbClr val="000000"/>
                </a:solidFill>
                <a:uFillTx/>
                <a:latin typeface="Consolas"/>
              </a:rPr>
              <a:t> token </a:t>
            </a:r>
            <a:r>
              <a:rPr b="0" lang="en-US" sz="1800" strike="noStrike" u="none">
                <a:solidFill>
                  <a:srgbClr val="0000ff"/>
                </a:solidFill>
                <a:uFillTx/>
                <a:latin typeface="Consolas"/>
              </a:rPr>
              <a:t>in</a:t>
            </a:r>
            <a:r>
              <a:rPr b="0" lang="en-US" sz="1800" strike="noStrike" u="none">
                <a:solidFill>
                  <a:srgbClr val="000000"/>
                </a:solidFill>
                <a:uFillTx/>
                <a:latin typeface="Consolas"/>
              </a:rPr>
              <a:t> filtered_tokens]</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print(lemmatized_tokens)</a:t>
            </a:r>
            <a:endParaRPr b="0" lang="en-US" sz="1800" strike="noStrike" u="none">
              <a:solidFill>
                <a:srgbClr val="000000"/>
              </a:solidFill>
              <a:uFillTx/>
              <a:latin typeface="Arial"/>
            </a:endParaRPr>
          </a:p>
        </p:txBody>
      </p:sp>
      <p:sp>
        <p:nvSpPr>
          <p:cNvPr id="134" name="TextBox 7"/>
          <p:cNvSpPr/>
          <p:nvPr/>
        </p:nvSpPr>
        <p:spPr>
          <a:xfrm>
            <a:off x="838080" y="763920"/>
            <a:ext cx="10016640" cy="27072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nb-NO" sz="1800" strike="noStrike" u="none">
                <a:solidFill>
                  <a:schemeClr val="dk1"/>
                </a:solidFill>
                <a:uFillTx/>
                <a:latin typeface="Calibri Light"/>
              </a:rPr>
              <a:t>Stemming Example</a:t>
            </a:r>
            <a:endParaRPr b="0" lang="en-US" sz="1800" strike="noStrike" u="none">
              <a:solidFill>
                <a:srgbClr val="000000"/>
              </a:solidFill>
              <a:uFillTx/>
              <a:latin typeface="Arial"/>
            </a:endParaRPr>
          </a:p>
        </p:txBody>
      </p:sp>
      <p:sp>
        <p:nvSpPr>
          <p:cNvPr id="135" name="TextBox 8"/>
          <p:cNvSpPr/>
          <p:nvPr/>
        </p:nvSpPr>
        <p:spPr>
          <a:xfrm>
            <a:off x="838080" y="3429000"/>
            <a:ext cx="10016640" cy="27072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nb-NO" sz="1800" strike="noStrike" u="none">
                <a:solidFill>
                  <a:schemeClr val="dk1"/>
                </a:solidFill>
                <a:uFillTx/>
                <a:latin typeface="Calibri Light"/>
              </a:rPr>
              <a:t>Lemmatizing Example</a:t>
            </a:r>
            <a:endParaRPr b="0" lang="en-US" sz="18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Representing Text – Converting Text into Numbers</a:t>
            </a:r>
            <a:endParaRPr b="0" lang="en-US" sz="2800" strike="noStrike" u="none">
              <a:solidFill>
                <a:schemeClr val="dk1"/>
              </a:solidFill>
              <a:uFillTx/>
              <a:latin typeface="Calibri"/>
            </a:endParaRPr>
          </a:p>
        </p:txBody>
      </p:sp>
      <p:sp>
        <p:nvSpPr>
          <p:cNvPr id="137"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fontScale="92500" lnSpcReduction="9999"/>
          </a:bodyPr>
          <a:p>
            <a:pPr indent="0" defTabSz="914400">
              <a:lnSpc>
                <a:spcPct val="90000"/>
              </a:lnSpc>
              <a:spcBef>
                <a:spcPts val="1001"/>
              </a:spcBef>
              <a:buNone/>
              <a:tabLst>
                <a:tab algn="l" pos="0"/>
              </a:tabLst>
            </a:pPr>
            <a:r>
              <a:rPr b="1" lang="en-US" sz="2400" strike="noStrike" u="none">
                <a:solidFill>
                  <a:schemeClr val="dk1"/>
                </a:solidFill>
                <a:uFillTx/>
                <a:latin typeface="Calibri"/>
              </a:rPr>
              <a:t>Bag of Words Method</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Bag of Words is a fundamental technique in Natural Language Processing (NLP) that represents text as a collection of word frequencies, disregarding grammar and word order.</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1" lang="en-US" sz="2400" strike="noStrike" u="none">
                <a:solidFill>
                  <a:schemeClr val="dk1"/>
                </a:solidFill>
                <a:uFillTx/>
                <a:latin typeface="Calibri"/>
              </a:rPr>
              <a:t>Core Concept</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The Bag of Words model converts text documents into numerical feature vectors by:</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Creating a vocabulary of all unique words in the corpus</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For each document, counting how many times each vocabulary word appears</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Simple Example:</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Consider these two short sentences:</a:t>
            </a:r>
            <a:endParaRPr b="0" lang="en-US" sz="20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tabLst>
                <a:tab algn="l" pos="0"/>
              </a:tabLst>
            </a:pPr>
            <a:r>
              <a:rPr b="0" lang="en-US" sz="1800" strike="noStrike" u="none">
                <a:solidFill>
                  <a:schemeClr val="dk1"/>
                </a:solidFill>
                <a:uFillTx/>
                <a:latin typeface="Calibri"/>
              </a:rPr>
              <a:t>"I love natural language processing“</a:t>
            </a:r>
            <a:endParaRPr b="0" lang="en-US" sz="1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tabLst>
                <a:tab algn="l" pos="0"/>
              </a:tabLst>
            </a:pPr>
            <a:r>
              <a:rPr b="0" lang="en-US" sz="1800" strike="noStrike" u="none">
                <a:solidFill>
                  <a:schemeClr val="dk1"/>
                </a:solidFill>
                <a:uFillTx/>
                <a:latin typeface="Calibri"/>
              </a:rPr>
              <a:t>"Processing natural language is fun“</a:t>
            </a:r>
            <a:endParaRPr b="0" lang="en-US" sz="1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The vocabulary would be: </a:t>
            </a:r>
            <a:endParaRPr b="0" lang="en-US" sz="20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tabLst>
                <a:tab algn="l" pos="0"/>
              </a:tabLst>
            </a:pPr>
            <a:r>
              <a:rPr b="0" lang="en-US" sz="1800" strike="noStrike" u="none">
                <a:solidFill>
                  <a:schemeClr val="dk1"/>
                </a:solidFill>
                <a:uFillTx/>
                <a:latin typeface="Calibri"/>
              </a:rPr>
              <a:t>{"I", "love", "natural", "language", "processing", "is", "fun"}</a:t>
            </a:r>
            <a:endParaRPr b="0" lang="en-US" sz="1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tabLst>
                <a:tab algn="l" pos="0"/>
              </a:tabLst>
            </a:pPr>
            <a:r>
              <a:rPr b="0" lang="en-US" sz="1800" strike="noStrike" u="none">
                <a:solidFill>
                  <a:schemeClr val="dk1"/>
                </a:solidFill>
                <a:uFillTx/>
                <a:latin typeface="Calibri"/>
              </a:rPr>
              <a:t>Document 1 vector: [1, 1, 1, 1, 1, 0, 0]</a:t>
            </a:r>
            <a:endParaRPr b="0" lang="en-US" sz="1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tabLst>
                <a:tab algn="l" pos="0"/>
              </a:tabLst>
            </a:pPr>
            <a:r>
              <a:rPr b="0" lang="en-US" sz="1800" strike="noStrike" u="none">
                <a:solidFill>
                  <a:schemeClr val="dk1"/>
                </a:solidFill>
                <a:uFillTx/>
                <a:latin typeface="Calibri"/>
              </a:rPr>
              <a:t>Document 2 vector: [0, 0, 1, 1, 1, 1, 1]</a:t>
            </a:r>
            <a:endParaRPr b="0" lang="en-US" sz="18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BoW Method</a:t>
            </a:r>
            <a:endParaRPr b="0" lang="en-US" sz="2800" strike="noStrike" u="none">
              <a:solidFill>
                <a:schemeClr val="dk1"/>
              </a:solidFill>
              <a:uFillTx/>
              <a:latin typeface="Calibri"/>
            </a:endParaRPr>
          </a:p>
        </p:txBody>
      </p:sp>
      <p:sp>
        <p:nvSpPr>
          <p:cNvPr id="139"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2400" strike="noStrike" u="none">
                <a:solidFill>
                  <a:schemeClr val="dk1"/>
                </a:solidFill>
                <a:uFillTx/>
                <a:latin typeface="Calibri"/>
              </a:rPr>
              <a:t>Applications, </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BOW is commonly used in:</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Text classification (spam detection, sentiment analysis)</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Document clustering</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Information retrieval</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Topic modeling</a:t>
            </a:r>
            <a:endParaRPr b="0" lang="en-US" sz="2400" strike="noStrike" u="none">
              <a:solidFill>
                <a:schemeClr val="dk1"/>
              </a:solidFill>
              <a:uFillTx/>
              <a:latin typeface="Calibri"/>
            </a:endParaRPr>
          </a:p>
          <a:p>
            <a:pPr indent="0" defTabSz="914400">
              <a:lnSpc>
                <a:spcPct val="100000"/>
              </a:lnSpc>
              <a:buNone/>
              <a:tabLst>
                <a:tab algn="l" pos="0"/>
              </a:tabLst>
            </a:pPr>
            <a:r>
              <a:rPr b="1" lang="en-US" sz="2400" strike="noStrike" u="none">
                <a:solidFill>
                  <a:schemeClr val="dk1"/>
                </a:solidFill>
                <a:uFillTx/>
                <a:latin typeface="Calibri"/>
              </a:rPr>
              <a:t>Advantages</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Simple to understand and implement</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Computationally efficient</a:t>
            </a:r>
            <a:endParaRPr b="0" lang="en-US" sz="2400" strike="noStrike" u="none">
              <a:solidFill>
                <a:schemeClr val="dk1"/>
              </a:solidFill>
              <a:uFillTx/>
              <a:latin typeface="Calibri"/>
            </a:endParaRPr>
          </a:p>
          <a:p>
            <a:pPr indent="0" defTabSz="914400">
              <a:lnSpc>
                <a:spcPct val="100000"/>
              </a:lnSpc>
              <a:buNone/>
              <a:tabLst>
                <a:tab algn="l" pos="0"/>
              </a:tabLst>
            </a:pPr>
            <a:r>
              <a:rPr b="0" lang="en-US" sz="2400" strike="noStrike" u="none">
                <a:solidFill>
                  <a:schemeClr val="dk1"/>
                </a:solidFill>
                <a:uFillTx/>
                <a:latin typeface="Calibri"/>
              </a:rPr>
              <a:t>Effective for many basic NLP tasks</a:t>
            </a: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Two Ways for BoW Implementation</a:t>
            </a:r>
            <a:endParaRPr b="0" lang="en-US" sz="2800" strike="noStrike" u="none">
              <a:solidFill>
                <a:schemeClr val="dk1"/>
              </a:solidFill>
              <a:uFillTx/>
              <a:latin typeface="Calibri"/>
            </a:endParaRPr>
          </a:p>
        </p:txBody>
      </p:sp>
      <p:sp>
        <p:nvSpPr>
          <p:cNvPr id="141" name="PlaceHolder 2"/>
          <p:cNvSpPr>
            <a:spLocks noGrp="1"/>
          </p:cNvSpPr>
          <p:nvPr>
            <p:ph/>
          </p:nvPr>
        </p:nvSpPr>
        <p:spPr>
          <a:xfrm>
            <a:off x="838080" y="1706040"/>
            <a:ext cx="10515240" cy="4990680"/>
          </a:xfrm>
          <a:prstGeom prst="rect">
            <a:avLst/>
          </a:prstGeom>
          <a:noFill/>
          <a:ln w="0">
            <a:noFill/>
          </a:ln>
        </p:spPr>
        <p:txBody>
          <a:bodyPr lIns="91440" rIns="91440" tIns="45720" bIns="45720" anchor="t">
            <a:noAutofit/>
          </a:bodyPr>
          <a:p>
            <a:pPr marL="457200" indent="0" defTabSz="914400">
              <a:lnSpc>
                <a:spcPct val="90000"/>
              </a:lnSpc>
              <a:spcBef>
                <a:spcPts val="1001"/>
              </a:spcBef>
              <a:buNone/>
            </a:pPr>
            <a:endParaRPr b="0" lang="en-US" sz="2400" strike="noStrike" u="none">
              <a:solidFill>
                <a:schemeClr val="dk1"/>
              </a:solidFill>
              <a:uFillTx/>
              <a:latin typeface="Calibri"/>
            </a:endParaRPr>
          </a:p>
          <a:p>
            <a:pPr marL="457200" indent="-457200" defTabSz="914400">
              <a:lnSpc>
                <a:spcPct val="90000"/>
              </a:lnSpc>
              <a:spcBef>
                <a:spcPts val="1001"/>
              </a:spcBef>
              <a:buClr>
                <a:srgbClr val="000000"/>
              </a:buClr>
              <a:buFont typeface="Calibri Light"/>
              <a:buAutoNum type="arabicPeriod"/>
            </a:pPr>
            <a:r>
              <a:rPr b="0" lang="en-US" sz="2400" strike="noStrike" u="none">
                <a:solidFill>
                  <a:schemeClr val="dk1"/>
                </a:solidFill>
                <a:uFillTx/>
                <a:latin typeface="Calibri"/>
              </a:rPr>
              <a:t>Basic Term Count/Frequency Method</a:t>
            </a:r>
            <a:endParaRPr b="0" lang="en-US" sz="2400" strike="noStrike" u="none">
              <a:solidFill>
                <a:schemeClr val="dk1"/>
              </a:solidFill>
              <a:uFillTx/>
              <a:latin typeface="Calibri"/>
            </a:endParaRPr>
          </a:p>
          <a:p>
            <a:pPr marL="457200" indent="-457200" defTabSz="914400">
              <a:lnSpc>
                <a:spcPct val="90000"/>
              </a:lnSpc>
              <a:spcBef>
                <a:spcPts val="1001"/>
              </a:spcBef>
              <a:buClr>
                <a:srgbClr val="000000"/>
              </a:buClr>
              <a:buFont typeface="Calibri Light"/>
              <a:buAutoNum type="arabicPeriod"/>
            </a:pPr>
            <a:r>
              <a:rPr b="0" lang="en-US" sz="2400" strike="noStrike" u="none">
                <a:solidFill>
                  <a:schemeClr val="dk1"/>
                </a:solidFill>
                <a:uFillTx/>
                <a:latin typeface="Calibri"/>
              </a:rPr>
              <a:t>TF-IDF (Term Frequency-Inverse Document Frequency)</a:t>
            </a:r>
            <a:endParaRPr b="0" lang="en-US" sz="2400" strike="noStrike" u="none">
              <a:solidFill>
                <a:schemeClr val="dk1"/>
              </a:solidFill>
              <a:uFillTx/>
              <a:latin typeface="Calibri"/>
            </a:endParaRPr>
          </a:p>
          <a:p>
            <a:pPr indent="0" defTabSz="914400">
              <a:lnSpc>
                <a:spcPct val="90000"/>
              </a:lnSpc>
              <a:spcBef>
                <a:spcPts val="1001"/>
              </a:spcBef>
              <a:buNone/>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BoW Basic Term Frequency Example</a:t>
            </a:r>
            <a:endParaRPr b="0" lang="en-US" sz="2800" strike="noStrike" u="none">
              <a:solidFill>
                <a:schemeClr val="dk1"/>
              </a:solidFill>
              <a:uFillTx/>
              <a:latin typeface="Calibri"/>
            </a:endParaRPr>
          </a:p>
        </p:txBody>
      </p:sp>
      <p:sp>
        <p:nvSpPr>
          <p:cNvPr id="143" name="TextBox 2"/>
          <p:cNvSpPr/>
          <p:nvPr/>
        </p:nvSpPr>
        <p:spPr>
          <a:xfrm>
            <a:off x="838080" y="1828800"/>
            <a:ext cx="9687240" cy="244368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800" strike="noStrike" u="none">
                <a:solidFill>
                  <a:srgbClr val="0000ff"/>
                </a:solidFill>
                <a:uFillTx/>
                <a:latin typeface="Consolas"/>
              </a:rPr>
              <a:t>from</a:t>
            </a:r>
            <a:r>
              <a:rPr b="0" lang="en-US" sz="1800" strike="noStrike" u="none">
                <a:solidFill>
                  <a:srgbClr val="000000"/>
                </a:solidFill>
                <a:uFillTx/>
                <a:latin typeface="Consolas"/>
              </a:rPr>
              <a:t> sklearn.feature_extraction.text </a:t>
            </a:r>
            <a:r>
              <a:rPr b="0" lang="en-US" sz="1800" strike="noStrike" u="none">
                <a:solidFill>
                  <a:srgbClr val="0000ff"/>
                </a:solidFill>
                <a:uFillTx/>
                <a:latin typeface="Consolas"/>
              </a:rPr>
              <a:t>import</a:t>
            </a:r>
            <a:r>
              <a:rPr b="0" lang="en-US" sz="1800" strike="noStrike" u="none">
                <a:solidFill>
                  <a:srgbClr val="000000"/>
                </a:solidFill>
                <a:uFillTx/>
                <a:latin typeface="Consolas"/>
              </a:rPr>
              <a:t> CountVectorizer</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corpus = [</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    </a:t>
            </a:r>
            <a:r>
              <a:rPr b="0" lang="en-US" sz="1800" strike="noStrike" u="none">
                <a:solidFill>
                  <a:srgbClr val="a31515"/>
                </a:solidFill>
                <a:uFillTx/>
                <a:latin typeface="Consolas"/>
              </a:rPr>
              <a:t>"Large language models revolutionize business."</a:t>
            </a:r>
            <a:r>
              <a:rPr b="0" lang="en-US" sz="1800" strike="noStrike" u="none">
                <a:solidFill>
                  <a:srgbClr val="000000"/>
                </a:solidFill>
                <a:uFillTx/>
                <a:latin typeface="Consolas"/>
              </a:rPr>
              <a:t>,</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    </a:t>
            </a:r>
            <a:r>
              <a:rPr b="0" lang="en-US" sz="1800" strike="noStrike" u="none">
                <a:solidFill>
                  <a:srgbClr val="a31515"/>
                </a:solidFill>
                <a:uFillTx/>
                <a:latin typeface="Consolas"/>
              </a:rPr>
              <a:t>"Business applications benefit from AI."</a:t>
            </a:r>
            <a:r>
              <a:rPr b="0" lang="en-US" sz="1800" strike="noStrike" u="none">
                <a:solidFill>
                  <a:srgbClr val="000000"/>
                </a:solidFill>
                <a:uFillTx/>
                <a:latin typeface="Consolas"/>
              </a:rPr>
              <a:t>,</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    </a:t>
            </a:r>
            <a:r>
              <a:rPr b="0" lang="en-US" sz="1800" strike="noStrike" u="none">
                <a:solidFill>
                  <a:srgbClr val="a31515"/>
                </a:solidFill>
                <a:uFillTx/>
                <a:latin typeface="Consolas"/>
              </a:rPr>
              <a:t>"Language models learn from text data."</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vectorizer = CountVectorizer()</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X = vectorizer.fit_transform(corpus)</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print(vectorizer.get_feature_names_out())</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print(X.toarray())</a:t>
            </a:r>
            <a:endParaRPr b="0" lang="en-US" sz="1800" strike="noStrike" u="none">
              <a:solidFill>
                <a:srgbClr val="000000"/>
              </a:solidFill>
              <a:uFillTx/>
              <a:latin typeface="Arial"/>
            </a:endParaRPr>
          </a:p>
        </p:txBody>
      </p:sp>
      <p:sp>
        <p:nvSpPr>
          <p:cNvPr id="144" name="TextBox 8"/>
          <p:cNvSpPr/>
          <p:nvPr/>
        </p:nvSpPr>
        <p:spPr>
          <a:xfrm>
            <a:off x="838080" y="4572000"/>
            <a:ext cx="10813680" cy="1186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trike="noStrike" u="none">
                <a:solidFill>
                  <a:schemeClr val="dk1"/>
                </a:solidFill>
                <a:uFillTx/>
                <a:latin typeface="Calibri"/>
              </a:rPr>
              <a:t>['ai' 'applications' 'benefit' 'business' 'data' 'from' 'language' 'large' 'learn' 'models' 'revolutionize' 'text’]</a:t>
            </a:r>
            <a:endParaRPr b="0" lang="en-US" sz="1800" strike="noStrike" u="none">
              <a:solidFill>
                <a:srgbClr val="000000"/>
              </a:solidFill>
              <a:uFillTx/>
              <a:latin typeface="Arial"/>
            </a:endParaRPr>
          </a:p>
          <a:p>
            <a:pPr defTabSz="914400">
              <a:lnSpc>
                <a:spcPct val="100000"/>
              </a:lnSpc>
            </a:pPr>
            <a:r>
              <a:rPr b="0" lang="en-US" sz="1800" strike="noStrike" u="none">
                <a:solidFill>
                  <a:schemeClr val="dk1"/>
                </a:solidFill>
                <a:uFillTx/>
                <a:latin typeface="Calibri"/>
              </a:rPr>
              <a:t>[[0 0 0 1 0 0 1 1 0 1 1 0] </a:t>
            </a:r>
            <a:endParaRPr b="0" lang="en-US" sz="1800" strike="noStrike" u="none">
              <a:solidFill>
                <a:srgbClr val="000000"/>
              </a:solidFill>
              <a:uFillTx/>
              <a:latin typeface="Arial"/>
            </a:endParaRPr>
          </a:p>
          <a:p>
            <a:pPr defTabSz="914400">
              <a:lnSpc>
                <a:spcPct val="100000"/>
              </a:lnSpc>
            </a:pPr>
            <a:r>
              <a:rPr b="0" lang="en-US" sz="1800" strike="noStrike" u="none">
                <a:solidFill>
                  <a:schemeClr val="dk1"/>
                </a:solidFill>
                <a:uFillTx/>
                <a:latin typeface="Calibri"/>
              </a:rPr>
              <a:t>[1 1 1 1 0 1 0 0 0 0 0 0] </a:t>
            </a:r>
            <a:endParaRPr b="0" lang="en-US" sz="1800" strike="noStrike" u="none">
              <a:solidFill>
                <a:srgbClr val="000000"/>
              </a:solidFill>
              <a:uFillTx/>
              <a:latin typeface="Arial"/>
            </a:endParaRPr>
          </a:p>
          <a:p>
            <a:pPr defTabSz="914400">
              <a:lnSpc>
                <a:spcPct val="100000"/>
              </a:lnSpc>
            </a:pPr>
            <a:r>
              <a:rPr b="0" lang="en-US" sz="1800" strike="noStrike" u="none">
                <a:solidFill>
                  <a:schemeClr val="dk1"/>
                </a:solidFill>
                <a:uFillTx/>
                <a:latin typeface="Calibri"/>
              </a:rPr>
              <a:t>[0 0 0 0 1 1 1 0 1 1 0 1]]</a:t>
            </a:r>
            <a:endParaRPr b="0" lang="en-US" sz="18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400" strike="noStrike" u="none">
                <a:solidFill>
                  <a:schemeClr val="lt1"/>
                </a:solidFill>
                <a:uFillTx/>
                <a:latin typeface="Calibri Light"/>
              </a:rPr>
              <a:t>BoW - TF-IDF (Term Frequency-Inverse Document Frequency)</a:t>
            </a:r>
            <a:endParaRPr b="0" lang="en-US" sz="2400" strike="noStrike" u="none">
              <a:solidFill>
                <a:schemeClr val="dk1"/>
              </a:solidFill>
              <a:uFillTx/>
              <a:latin typeface="Calibri"/>
            </a:endParaRPr>
          </a:p>
        </p:txBody>
      </p:sp>
      <p:sp>
        <p:nvSpPr>
          <p:cNvPr id="146" name="PlaceHolder 2"/>
          <p:cNvSpPr>
            <a:spLocks noGrp="1"/>
          </p:cNvSpPr>
          <p:nvPr>
            <p:ph/>
          </p:nvPr>
        </p:nvSpPr>
        <p:spPr>
          <a:xfrm>
            <a:off x="838080" y="1706040"/>
            <a:ext cx="10515240" cy="5151600"/>
          </a:xfrm>
          <a:prstGeom prst="rect">
            <a:avLst/>
          </a:prstGeom>
          <a:noFill/>
          <a:ln w="0">
            <a:noFill/>
          </a:ln>
        </p:spPr>
        <p:txBody>
          <a:bodyPr lIns="91440" rIns="91440" tIns="45720" bIns="45720" anchor="t">
            <a:normAutofit fontScale="92500" lnSpcReduction="19999"/>
          </a:bodyPr>
          <a:p>
            <a:pPr indent="0" defTabSz="914400">
              <a:lnSpc>
                <a:spcPct val="90000"/>
              </a:lnSpc>
              <a:spcBef>
                <a:spcPts val="1001"/>
              </a:spcBef>
              <a:buNone/>
              <a:tabLst>
                <a:tab algn="l" pos="0"/>
              </a:tabLst>
            </a:pPr>
            <a:r>
              <a:rPr b="1" lang="en-US" sz="2400" strike="noStrike" u="none">
                <a:solidFill>
                  <a:schemeClr val="dk1"/>
                </a:solidFill>
                <a:uFillTx/>
                <a:latin typeface="Calibri"/>
              </a:rPr>
              <a:t>Definition:</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TF-IDF</a:t>
            </a:r>
            <a:r>
              <a:rPr b="1" lang="en-US" sz="2400" strike="noStrike" u="none">
                <a:solidFill>
                  <a:schemeClr val="dk1"/>
                </a:solidFill>
                <a:uFillTx/>
                <a:latin typeface="Calibri"/>
              </a:rPr>
              <a:t> </a:t>
            </a:r>
            <a:r>
              <a:rPr b="0" lang="en-US" sz="2400" strike="noStrike" u="none">
                <a:solidFill>
                  <a:schemeClr val="dk1"/>
                </a:solidFill>
                <a:uFillTx/>
                <a:latin typeface="Calibri"/>
              </a:rPr>
              <a:t>is a statistical measure that evaluates the importance of a word in a document relative to a collection of documents (corpus). </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It improves upon the basic Bag of Words model by weighing terms based on how unique they are to a specific document.</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Formula:</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TF(t, d)</a:t>
            </a:r>
            <a:r>
              <a:rPr b="0" lang="en-US" sz="2400" strike="noStrike" u="none">
                <a:solidFill>
                  <a:schemeClr val="dk1"/>
                </a:solidFill>
                <a:uFillTx/>
                <a:latin typeface="Calibri"/>
              </a:rPr>
              <a:t>: Term Frequency – how often term </a:t>
            </a:r>
            <a:r>
              <a:rPr b="0" i="1" lang="en-US" sz="2400" strike="noStrike" u="none">
                <a:solidFill>
                  <a:schemeClr val="dk1"/>
                </a:solidFill>
                <a:uFillTx/>
                <a:latin typeface="Calibri"/>
              </a:rPr>
              <a:t>t</a:t>
            </a:r>
            <a:r>
              <a:rPr b="0" lang="en-US" sz="2400" strike="noStrike" u="none">
                <a:solidFill>
                  <a:schemeClr val="dk1"/>
                </a:solidFill>
                <a:uFillTx/>
                <a:latin typeface="Calibri"/>
              </a:rPr>
              <a:t> appears in document </a:t>
            </a:r>
            <a:r>
              <a:rPr b="0" i="1" lang="en-US" sz="2400" strike="noStrike" u="none">
                <a:solidFill>
                  <a:schemeClr val="dk1"/>
                </a:solidFill>
                <a:uFillTx/>
                <a:latin typeface="Calibri"/>
              </a:rPr>
              <a:t>d</a:t>
            </a:r>
            <a:r>
              <a:rPr b="0" lang="en-US" sz="2400" strike="noStrike" u="none">
                <a:solidFill>
                  <a:schemeClr val="dk1"/>
                </a:solidFill>
                <a:uFillTx/>
                <a:latin typeface="Calibri"/>
              </a:rPr>
              <a:t>.</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IDF(t)</a:t>
            </a:r>
            <a:r>
              <a:rPr b="0" lang="en-US" sz="2400" strike="noStrike" u="none">
                <a:solidFill>
                  <a:schemeClr val="dk1"/>
                </a:solidFill>
                <a:uFillTx/>
                <a:latin typeface="Calibri"/>
              </a:rPr>
              <a:t>: Inverse Document Frequency – how rare term </a:t>
            </a:r>
            <a:r>
              <a:rPr b="0" i="1" lang="en-US" sz="2400" strike="noStrike" u="none">
                <a:solidFill>
                  <a:schemeClr val="dk1"/>
                </a:solidFill>
                <a:uFillTx/>
                <a:latin typeface="Calibri"/>
              </a:rPr>
              <a:t>t</a:t>
            </a:r>
            <a:r>
              <a:rPr b="0" lang="en-US" sz="2400" strike="noStrike" u="none">
                <a:solidFill>
                  <a:schemeClr val="dk1"/>
                </a:solidFill>
                <a:uFillTx/>
                <a:latin typeface="Calibri"/>
              </a:rPr>
              <a:t> is across the corpus:</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i="1" lang="en-US" sz="2400" strike="noStrike" u="none">
                <a:solidFill>
                  <a:schemeClr val="dk1"/>
                </a:solidFill>
                <a:uFillTx/>
                <a:latin typeface="Calibri"/>
              </a:rPr>
              <a:t>N</a:t>
            </a:r>
            <a:r>
              <a:rPr b="0" lang="en-US" sz="2400" strike="noStrike" u="none">
                <a:solidFill>
                  <a:schemeClr val="dk1"/>
                </a:solidFill>
                <a:uFillTx/>
                <a:latin typeface="Calibri"/>
              </a:rPr>
              <a:t> = total number of documents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i="1" lang="en-US" sz="2400" strike="noStrike" u="none">
                <a:solidFill>
                  <a:schemeClr val="dk1"/>
                </a:solidFill>
                <a:uFillTx/>
                <a:latin typeface="Calibri"/>
              </a:rPr>
              <a:t>df(t)</a:t>
            </a:r>
            <a:r>
              <a:rPr b="0" lang="en-US" sz="2400" strike="noStrike" u="none">
                <a:solidFill>
                  <a:schemeClr val="dk1"/>
                </a:solidFill>
                <a:uFillTx/>
                <a:latin typeface="Calibri"/>
              </a:rPr>
              <a:t> = number of documents containing term </a:t>
            </a:r>
            <a:r>
              <a:rPr b="0" i="1" lang="en-US" sz="2400" strike="noStrike" u="none">
                <a:solidFill>
                  <a:schemeClr val="dk1"/>
                </a:solidFill>
                <a:uFillTx/>
                <a:latin typeface="Calibri"/>
              </a:rPr>
              <a:t>t</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1" lang="en-US" sz="2400" strike="noStrike" u="none">
                <a:solidFill>
                  <a:schemeClr val="dk1"/>
                </a:solidFill>
                <a:uFillTx/>
                <a:latin typeface="Calibri"/>
              </a:rPr>
              <a:t>Key Idea:</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TF-IDF increases when a word appears frequently in a document but rarely across the corpus, making it a good indicator of relevance.</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p:txBody>
      </p:sp>
      <p:pic>
        <p:nvPicPr>
          <p:cNvPr id="147" name="Picture 4" descr=""/>
          <p:cNvPicPr/>
          <p:nvPr/>
        </p:nvPicPr>
        <p:blipFill>
          <a:blip r:embed="rId1"/>
          <a:stretch/>
        </p:blipFill>
        <p:spPr>
          <a:xfrm>
            <a:off x="1065600" y="4281840"/>
            <a:ext cx="1911960" cy="66420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Example – Word A vs. Word B</a:t>
            </a:r>
            <a:endParaRPr b="0" lang="en-US" sz="2800" strike="noStrike" u="none">
              <a:solidFill>
                <a:schemeClr val="dk1"/>
              </a:solidFill>
              <a:uFillTx/>
              <a:latin typeface="Calibri"/>
            </a:endParaRPr>
          </a:p>
        </p:txBody>
      </p:sp>
      <p:sp>
        <p:nvSpPr>
          <p:cNvPr id="149" name="PlaceHolder 2"/>
          <p:cNvSpPr>
            <a:spLocks noGrp="1"/>
          </p:cNvSpPr>
          <p:nvPr>
            <p:ph/>
          </p:nvPr>
        </p:nvSpPr>
        <p:spPr>
          <a:xfrm>
            <a:off x="838080" y="1706040"/>
            <a:ext cx="10515240" cy="1722600"/>
          </a:xfrm>
          <a:prstGeom prst="rect">
            <a:avLst/>
          </a:prstGeom>
          <a:noFill/>
          <a:ln w="0">
            <a:noFill/>
          </a:ln>
        </p:spPr>
        <p:txBody>
          <a:bodyPr lIns="91440" rIns="91440" tIns="45720" bIns="45720" anchor="t">
            <a:normAutofit/>
          </a:bodyPr>
          <a:p>
            <a:pPr marL="228600" indent="-228600" defTabSz="914400">
              <a:lnSpc>
                <a:spcPct val="90000"/>
              </a:lnSpc>
              <a:spcBef>
                <a:spcPts val="1001"/>
              </a:spcBef>
              <a:buNone/>
              <a:tabLst>
                <a:tab algn="l" pos="0"/>
              </a:tabLst>
            </a:pPr>
            <a:r>
              <a:rPr b="1" lang="en-US" sz="2000" strike="noStrike" u="none">
                <a:solidFill>
                  <a:schemeClr val="dk1"/>
                </a:solidFill>
                <a:uFillTx/>
                <a:latin typeface="Calibri"/>
              </a:rPr>
              <a:t>Corpus size:</a:t>
            </a:r>
            <a:r>
              <a:rPr b="0" lang="en-US" sz="2000" strike="noStrike" u="none">
                <a:solidFill>
                  <a:schemeClr val="dk1"/>
                </a:solidFill>
                <a:uFillTx/>
                <a:latin typeface="Calibri"/>
              </a:rPr>
              <a:t> 10 documents</a:t>
            </a:r>
            <a:endParaRPr b="0" lang="en-US" sz="2000" strike="noStrike" u="none">
              <a:solidFill>
                <a:schemeClr val="dk1"/>
              </a:solidFill>
              <a:uFillTx/>
              <a:latin typeface="Calibri"/>
            </a:endParaRPr>
          </a:p>
          <a:p>
            <a:pPr lvl="1" marL="345960" indent="-228600" defTabSz="914400">
              <a:lnSpc>
                <a:spcPct val="90000"/>
              </a:lnSpc>
              <a:spcBef>
                <a:spcPts val="499"/>
              </a:spcBef>
              <a:buClr>
                <a:srgbClr val="000000"/>
              </a:buClr>
              <a:buFont typeface="Arial"/>
              <a:buChar char="•"/>
              <a:tabLst>
                <a:tab algn="l" pos="0"/>
              </a:tabLst>
            </a:pPr>
            <a:r>
              <a:rPr b="1" lang="en-US" sz="2000" strike="noStrike" u="none">
                <a:solidFill>
                  <a:schemeClr val="dk1"/>
                </a:solidFill>
                <a:uFillTx/>
                <a:latin typeface="Calibri"/>
              </a:rPr>
              <a:t>Word A</a:t>
            </a:r>
            <a:r>
              <a:rPr b="0" lang="en-US" sz="2000" strike="noStrike" u="none">
                <a:solidFill>
                  <a:schemeClr val="dk1"/>
                </a:solidFill>
                <a:uFillTx/>
                <a:latin typeface="Calibri"/>
              </a:rPr>
              <a:t> appears in </a:t>
            </a:r>
            <a:r>
              <a:rPr b="1" lang="en-US" sz="2000" strike="noStrike" u="none">
                <a:solidFill>
                  <a:schemeClr val="dk1"/>
                </a:solidFill>
                <a:uFillTx/>
                <a:latin typeface="Calibri"/>
              </a:rPr>
              <a:t>1</a:t>
            </a:r>
            <a:r>
              <a:rPr b="0" lang="en-US" sz="2000" strike="noStrike" u="none">
                <a:solidFill>
                  <a:schemeClr val="dk1"/>
                </a:solidFill>
                <a:uFillTx/>
                <a:latin typeface="Calibri"/>
              </a:rPr>
              <a:t> document</a:t>
            </a:r>
            <a:endParaRPr b="0" lang="en-US" sz="2000" strike="noStrike" u="none">
              <a:solidFill>
                <a:schemeClr val="dk1"/>
              </a:solidFill>
              <a:uFillTx/>
              <a:latin typeface="Calibri"/>
            </a:endParaRPr>
          </a:p>
          <a:p>
            <a:pPr lvl="1" marL="345960" indent="-228600" defTabSz="914400">
              <a:lnSpc>
                <a:spcPct val="90000"/>
              </a:lnSpc>
              <a:spcBef>
                <a:spcPts val="499"/>
              </a:spcBef>
              <a:buClr>
                <a:srgbClr val="000000"/>
              </a:buClr>
              <a:buFont typeface="Arial"/>
              <a:buChar char="•"/>
              <a:tabLst>
                <a:tab algn="l" pos="0"/>
              </a:tabLst>
            </a:pPr>
            <a:r>
              <a:rPr b="1" lang="en-US" sz="2000" strike="noStrike" u="none">
                <a:solidFill>
                  <a:schemeClr val="dk1"/>
                </a:solidFill>
                <a:uFillTx/>
                <a:latin typeface="Calibri"/>
              </a:rPr>
              <a:t>Word B</a:t>
            </a:r>
            <a:r>
              <a:rPr b="0" lang="en-US" sz="2000" strike="noStrike" u="none">
                <a:solidFill>
                  <a:schemeClr val="dk1"/>
                </a:solidFill>
                <a:uFillTx/>
                <a:latin typeface="Calibri"/>
              </a:rPr>
              <a:t> appears in </a:t>
            </a:r>
            <a:r>
              <a:rPr b="1" lang="en-US" sz="2000" strike="noStrike" u="none">
                <a:solidFill>
                  <a:schemeClr val="dk1"/>
                </a:solidFill>
                <a:uFillTx/>
                <a:latin typeface="Calibri"/>
              </a:rPr>
              <a:t>8</a:t>
            </a:r>
            <a:r>
              <a:rPr b="0" lang="en-US" sz="2000" strike="noStrike" u="none">
                <a:solidFill>
                  <a:schemeClr val="dk1"/>
                </a:solidFill>
                <a:uFillTx/>
                <a:latin typeface="Calibri"/>
              </a:rPr>
              <a:t> documents</a:t>
            </a:r>
            <a:endParaRPr b="0" lang="en-US" sz="2000" strike="noStrike" u="none">
              <a:solidFill>
                <a:schemeClr val="dk1"/>
              </a:solidFill>
              <a:uFillTx/>
              <a:latin typeface="Calibri"/>
            </a:endParaRPr>
          </a:p>
          <a:p>
            <a:pPr lvl="1" marL="34596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In the target document, both words appear </a:t>
            </a:r>
            <a:r>
              <a:rPr b="1" lang="en-US" sz="2000" strike="noStrike" u="none">
                <a:solidFill>
                  <a:schemeClr val="dk1"/>
                </a:solidFill>
                <a:uFillTx/>
                <a:latin typeface="Calibri"/>
              </a:rPr>
              <a:t>once</a:t>
            </a:r>
            <a:r>
              <a:rPr b="0" lang="en-US" sz="2000" strike="noStrike" u="none">
                <a:solidFill>
                  <a:schemeClr val="dk1"/>
                </a:solidFill>
                <a:uFillTx/>
                <a:latin typeface="Calibri"/>
              </a:rPr>
              <a:t> (TF = 1)</a:t>
            </a:r>
            <a:endParaRPr b="0" lang="en-US" sz="2000" strike="noStrike" u="none">
              <a:solidFill>
                <a:schemeClr val="dk1"/>
              </a:solidFill>
              <a:uFillTx/>
              <a:latin typeface="Calibri"/>
            </a:endParaRPr>
          </a:p>
        </p:txBody>
      </p:sp>
      <p:graphicFrame>
        <p:nvGraphicFramePr>
          <p:cNvPr id="150" name="Table 26"/>
          <p:cNvGraphicFramePr/>
          <p:nvPr/>
        </p:nvGraphicFramePr>
        <p:xfrm>
          <a:off x="2633040" y="3508920"/>
          <a:ext cx="6925680" cy="1132560"/>
        </p:xfrm>
        <a:graphic>
          <a:graphicData uri="http://schemas.openxmlformats.org/drawingml/2006/table">
            <a:tbl>
              <a:tblPr/>
              <a:tblGrid>
                <a:gridCol w="756000"/>
                <a:gridCol w="699840"/>
                <a:gridCol w="1229400"/>
                <a:gridCol w="1332360"/>
                <a:gridCol w="751320"/>
                <a:gridCol w="2156040"/>
              </a:tblGrid>
              <a:tr h="272160">
                <a:tc>
                  <a:txBody>
                    <a:bodyPr lIns="9360" rIns="9360" tIns="9360" bIns="0" anchor="ctr">
                      <a:noAutofit/>
                    </a:bodyPr>
                    <a:p>
                      <a:pPr algn="ctr" defTabSz="914400">
                        <a:lnSpc>
                          <a:spcPct val="100000"/>
                        </a:lnSpc>
                      </a:pPr>
                      <a:r>
                        <a:rPr b="1" lang="en-US" sz="1100" strike="noStrike" u="none">
                          <a:solidFill>
                            <a:schemeClr val="dk1"/>
                          </a:solidFill>
                          <a:uFillTx/>
                          <a:latin typeface="Calibri"/>
                        </a:rPr>
                        <a:t>Term</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ctr">
                      <a:noAutofit/>
                    </a:bodyPr>
                    <a:p>
                      <a:pPr algn="ctr" defTabSz="914400">
                        <a:lnSpc>
                          <a:spcPct val="100000"/>
                        </a:lnSpc>
                      </a:pPr>
                      <a:r>
                        <a:rPr b="1" lang="en-US" sz="1100" strike="noStrike" u="none">
                          <a:solidFill>
                            <a:schemeClr val="dk1"/>
                          </a:solidFill>
                          <a:uFillTx/>
                          <a:latin typeface="Calibri"/>
                        </a:rPr>
                        <a:t>df(t)</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ctr">
                      <a:noAutofit/>
                    </a:bodyPr>
                    <a:p>
                      <a:pPr algn="ctr" defTabSz="914400">
                        <a:lnSpc>
                          <a:spcPct val="100000"/>
                        </a:lnSpc>
                      </a:pPr>
                      <a:r>
                        <a:rPr b="1" lang="en-US" sz="1100" strike="noStrike" u="none">
                          <a:solidFill>
                            <a:schemeClr val="dk1"/>
                          </a:solidFill>
                          <a:uFillTx/>
                          <a:latin typeface="Calibri"/>
                        </a:rPr>
                        <a:t>TF in the Current Document</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ctr">
                      <a:noAutofit/>
                    </a:bodyPr>
                    <a:p>
                      <a:pPr algn="ctr" defTabSz="914400">
                        <a:lnSpc>
                          <a:spcPct val="100000"/>
                        </a:lnSpc>
                      </a:pPr>
                      <a:r>
                        <a:rPr b="1" lang="en-US" sz="1100" strike="noStrike" u="none">
                          <a:solidFill>
                            <a:schemeClr val="dk1"/>
                          </a:solidFill>
                          <a:uFillTx/>
                          <a:latin typeface="Calibri"/>
                        </a:rPr>
                        <a:t>IDF (log₁₀(N/df))</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ctr">
                      <a:noAutofit/>
                    </a:bodyPr>
                    <a:p>
                      <a:pPr algn="ctr" defTabSz="914400">
                        <a:lnSpc>
                          <a:spcPct val="100000"/>
                        </a:lnSpc>
                      </a:pPr>
                      <a:r>
                        <a:rPr b="1" lang="en-US" sz="1100" strike="noStrike" u="none">
                          <a:solidFill>
                            <a:schemeClr val="dk1"/>
                          </a:solidFill>
                          <a:uFillTx/>
                          <a:latin typeface="Calibri"/>
                        </a:rPr>
                        <a:t>TF-IDF</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anchor="ctr">
                      <a:noAutofit/>
                    </a:bodyPr>
                    <a:p>
                      <a:pPr algn="ctr" defTabSz="914400">
                        <a:lnSpc>
                          <a:spcPct val="100000"/>
                        </a:lnSpc>
                      </a:pPr>
                      <a:r>
                        <a:rPr b="0" lang="en-US" sz="1800" strike="noStrike" u="none">
                          <a:solidFill>
                            <a:schemeClr val="dk1"/>
                          </a:solidFill>
                          <a:uFillTx/>
                          <a:latin typeface="Calibri"/>
                        </a:rPr>
                        <a:t>Result</a:t>
                      </a:r>
                      <a:endParaRPr b="0" lang="en-US" sz="1800" strike="noStrike" u="none">
                        <a:solidFill>
                          <a:srgbClr val="000000"/>
                        </a:solidFill>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r>
              <a:tr h="380880">
                <a:tc>
                  <a:txBody>
                    <a:bodyPr lIns="9360" rIns="9360" tIns="9360" bIns="0" anchor="ctr">
                      <a:noAutofit/>
                    </a:bodyPr>
                    <a:p>
                      <a:pPr algn="ctr" defTabSz="914400">
                        <a:lnSpc>
                          <a:spcPct val="100000"/>
                        </a:lnSpc>
                      </a:pPr>
                      <a:r>
                        <a:rPr b="0" lang="en-US" sz="1100" strike="noStrike" u="none">
                          <a:solidFill>
                            <a:schemeClr val="dk1"/>
                          </a:solidFill>
                          <a:uFillTx/>
                          <a:latin typeface="Calibri"/>
                        </a:rPr>
                        <a:t>Word A</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1</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1</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log(10/1) = 1.00</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1</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defTabSz="914400">
                        <a:lnSpc>
                          <a:spcPct val="100000"/>
                        </a:lnSpc>
                      </a:pPr>
                      <a:r>
                        <a:rPr b="0" lang="en-US" sz="1100" strike="noStrike" u="none">
                          <a:solidFill>
                            <a:schemeClr val="dk1"/>
                          </a:solidFill>
                          <a:uFillTx/>
                          <a:latin typeface="Calibri"/>
                        </a:rPr>
                        <a:t>High importance (distinct)</a:t>
                      </a:r>
                      <a:endParaRPr b="0" lang="en-US" sz="1100" strike="noStrike" u="none">
                        <a:solidFill>
                          <a:srgbClr val="000000"/>
                        </a:solidFill>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80880">
                <a:tc>
                  <a:txBody>
                    <a:bodyPr lIns="9360" rIns="9360" tIns="9360" bIns="0" anchor="ctr">
                      <a:noAutofit/>
                    </a:bodyPr>
                    <a:p>
                      <a:pPr algn="ctr" defTabSz="914400">
                        <a:lnSpc>
                          <a:spcPct val="100000"/>
                        </a:lnSpc>
                      </a:pPr>
                      <a:r>
                        <a:rPr b="0" lang="en-US" sz="1100" strike="noStrike" u="none">
                          <a:solidFill>
                            <a:schemeClr val="dk1"/>
                          </a:solidFill>
                          <a:uFillTx/>
                          <a:latin typeface="Calibri"/>
                        </a:rPr>
                        <a:t>Word B</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8</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1</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log(10/8) ≈ 0.096</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ctr">
                      <a:noAutofit/>
                    </a:bodyPr>
                    <a:p>
                      <a:pPr algn="ctr" defTabSz="914400">
                        <a:lnSpc>
                          <a:spcPct val="100000"/>
                        </a:lnSpc>
                      </a:pPr>
                      <a:r>
                        <a:rPr b="0" lang="en-US" sz="1100" strike="noStrike" u="none">
                          <a:solidFill>
                            <a:schemeClr val="dk1"/>
                          </a:solidFill>
                          <a:uFillTx/>
                          <a:latin typeface="Calibri"/>
                        </a:rPr>
                        <a:t>0.1</a:t>
                      </a:r>
                      <a:endParaRPr b="0" lang="en-US" sz="1100" strike="noStrike" u="none">
                        <a:solidFill>
                          <a:srgbClr val="000000"/>
                        </a:solidFill>
                        <a:uFillTx/>
                        <a:latin typeface="Arial"/>
                      </a:endParaRPr>
                    </a:p>
                  </a:txBody>
                  <a:tcPr anchor="ctr"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defTabSz="914400">
                        <a:lnSpc>
                          <a:spcPct val="100000"/>
                        </a:lnSpc>
                      </a:pPr>
                      <a:r>
                        <a:rPr b="0" lang="en-US" sz="1100" strike="noStrike" u="none">
                          <a:solidFill>
                            <a:schemeClr val="dk1"/>
                          </a:solidFill>
                          <a:uFillTx/>
                          <a:latin typeface="Calibri"/>
                        </a:rPr>
                        <a:t>Low importance (common)</a:t>
                      </a:r>
                      <a:endParaRPr b="0" lang="en-US" sz="1100" strike="noStrike" u="none">
                        <a:solidFill>
                          <a:srgbClr val="000000"/>
                        </a:solidFill>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sp>
        <p:nvSpPr>
          <p:cNvPr id="151" name="TextBox 28"/>
          <p:cNvSpPr/>
          <p:nvPr/>
        </p:nvSpPr>
        <p:spPr>
          <a:xfrm>
            <a:off x="838080" y="5022000"/>
            <a:ext cx="11413080" cy="912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trike="noStrike" u="none">
                <a:solidFill>
                  <a:schemeClr val="dk1"/>
                </a:solidFill>
                <a:uFillTx/>
                <a:latin typeface="Calibri"/>
              </a:rPr>
              <a:t>Interpretation:</a:t>
            </a:r>
            <a:endParaRPr b="0" lang="en-US" sz="1800" strike="noStrike" u="none">
              <a:solidFill>
                <a:srgbClr val="000000"/>
              </a:solidFill>
              <a:uFillTx/>
              <a:latin typeface="Arial"/>
            </a:endParaRPr>
          </a:p>
          <a:p>
            <a:pPr marL="285840" indent="-285840" defTabSz="914400">
              <a:lnSpc>
                <a:spcPct val="100000"/>
              </a:lnSpc>
              <a:buClr>
                <a:srgbClr val="000000"/>
              </a:buClr>
              <a:buFont typeface="Arial"/>
              <a:buChar char="•"/>
            </a:pPr>
            <a:r>
              <a:rPr b="0" lang="en-US" sz="1800" strike="noStrike" u="none">
                <a:solidFill>
                  <a:schemeClr val="dk1"/>
                </a:solidFill>
                <a:uFillTx/>
                <a:latin typeface="Calibri"/>
              </a:rPr>
              <a:t>Word A is more distinctive and carries more weight in the document. Word B, being common across the corpus, contributes less to identifying document relevance.</a:t>
            </a:r>
            <a:endParaRPr b="0" lang="en-US" sz="18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TF-IDF (Term Frequency-Inverse Document Frequency)</a:t>
            </a:r>
            <a:endParaRPr b="0" lang="en-US" sz="2800" strike="noStrike" u="none">
              <a:solidFill>
                <a:schemeClr val="dk1"/>
              </a:solidFill>
              <a:uFillTx/>
              <a:latin typeface="Calibri"/>
            </a:endParaRPr>
          </a:p>
        </p:txBody>
      </p:sp>
      <p:sp>
        <p:nvSpPr>
          <p:cNvPr id="153" name="TextBox 4"/>
          <p:cNvSpPr/>
          <p:nvPr/>
        </p:nvSpPr>
        <p:spPr>
          <a:xfrm>
            <a:off x="838080" y="1784160"/>
            <a:ext cx="11466720" cy="280584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800" strike="noStrike" u="none">
                <a:solidFill>
                  <a:srgbClr val="0000ff"/>
                </a:solidFill>
                <a:uFillTx/>
                <a:latin typeface="Consolas"/>
              </a:rPr>
              <a:t>from</a:t>
            </a:r>
            <a:r>
              <a:rPr b="0" lang="en-US" sz="1800" strike="noStrike" u="none">
                <a:solidFill>
                  <a:srgbClr val="000000"/>
                </a:solidFill>
                <a:uFillTx/>
                <a:latin typeface="Consolas"/>
              </a:rPr>
              <a:t> sklearn.feature_extraction.text </a:t>
            </a:r>
            <a:r>
              <a:rPr b="0" lang="en-US" sz="1800" strike="noStrike" u="none">
                <a:solidFill>
                  <a:srgbClr val="0000ff"/>
                </a:solidFill>
                <a:uFillTx/>
                <a:latin typeface="Consolas"/>
              </a:rPr>
              <a:t>import</a:t>
            </a:r>
            <a:r>
              <a:rPr b="0" lang="en-US" sz="1800" strike="noStrike" u="none">
                <a:solidFill>
                  <a:srgbClr val="000000"/>
                </a:solidFill>
                <a:uFillTx/>
                <a:latin typeface="Consolas"/>
              </a:rPr>
              <a:t> TfidfVectorizer</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tfidf_vectorizer = TfidfVectorizer()</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8000"/>
                </a:solidFill>
                <a:uFillTx/>
                <a:latin typeface="Consolas"/>
              </a:rPr>
              <a:t># Transform the corpus into a document-term matrix, each row represents a document in the corpus, each column represents a unique word in the corpus</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X_tfidf = tfidf_vectorizer.fit_transform(corpus)</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8000"/>
                </a:solidFill>
                <a:uFillTx/>
                <a:latin typeface="Consolas"/>
              </a:rPr>
              <a:t># Get the unique words in the corpus</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a:t>
            </a:r>
            <a:r>
              <a:rPr b="0" lang="en-US" sz="1800" strike="noStrike" u="none">
                <a:solidFill>
                  <a:srgbClr val="a31515"/>
                </a:solidFill>
                <a:uFillTx/>
                <a:latin typeface="Consolas"/>
              </a:rPr>
              <a:t>"\n Unique words in the corpus:\n"</a:t>
            </a:r>
            <a:r>
              <a:rPr b="0" lang="en-US" sz="1800" strike="noStrike" u="none">
                <a:solidFill>
                  <a:srgbClr val="000000"/>
                </a:solidFill>
                <a:uFillTx/>
                <a:latin typeface="Consolas"/>
              </a:rPr>
              <a:t>)</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print(tfidf_vectorizer.get_feature_names_out())</a:t>
            </a:r>
            <a:endParaRPr b="0" lang="en-US" sz="1800" strike="noStrike" u="none">
              <a:solidFill>
                <a:srgbClr val="000000"/>
              </a:solidFill>
              <a:uFillTx/>
              <a:latin typeface="Arial"/>
            </a:endParaRPr>
          </a:p>
          <a:p>
            <a:pPr defTabSz="914400">
              <a:lnSpc>
                <a:spcPts val="1426"/>
              </a:lnSpc>
            </a:pPr>
            <a:br>
              <a:rPr sz="1800"/>
            </a:br>
            <a:r>
              <a:rPr b="0" lang="en-US" sz="1800" strike="noStrike" u="none">
                <a:solidFill>
                  <a:srgbClr val="000000"/>
                </a:solidFill>
                <a:uFillTx/>
                <a:latin typeface="Consolas"/>
              </a:rPr>
              <a:t>print(</a:t>
            </a:r>
            <a:r>
              <a:rPr b="0" lang="en-US" sz="1800" strike="noStrike" u="none">
                <a:solidFill>
                  <a:srgbClr val="a31515"/>
                </a:solidFill>
                <a:uFillTx/>
                <a:latin typeface="Consolas"/>
              </a:rPr>
              <a:t>"\n All documents in the corpus are represented as a matrix of TF-IDF features:\n"</a:t>
            </a:r>
            <a:r>
              <a:rPr b="0" lang="en-US" sz="1800" strike="noStrike" u="none">
                <a:solidFill>
                  <a:srgbClr val="000000"/>
                </a:solidFill>
                <a:uFillTx/>
                <a:latin typeface="Consolas"/>
              </a:rPr>
              <a:t>)</a:t>
            </a:r>
            <a:endParaRPr b="0" lang="en-US" sz="1800" strike="noStrike" u="none">
              <a:solidFill>
                <a:srgbClr val="000000"/>
              </a:solidFill>
              <a:uFillTx/>
              <a:latin typeface="Arial"/>
            </a:endParaRPr>
          </a:p>
          <a:p>
            <a:pPr defTabSz="914400">
              <a:lnSpc>
                <a:spcPts val="1426"/>
              </a:lnSpc>
            </a:pPr>
            <a:r>
              <a:rPr b="0" lang="en-US" sz="1800" strike="noStrike" u="none">
                <a:solidFill>
                  <a:srgbClr val="000000"/>
                </a:solidFill>
                <a:uFillTx/>
                <a:latin typeface="Consolas"/>
              </a:rPr>
              <a:t>print(X_tfidf.toarray())</a:t>
            </a:r>
            <a:endParaRPr b="0" lang="en-US" sz="1800" strike="noStrike" u="none">
              <a:solidFill>
                <a:srgbClr val="000000"/>
              </a:solidFill>
              <a:uFillTx/>
              <a:latin typeface="Arial"/>
            </a:endParaRPr>
          </a:p>
        </p:txBody>
      </p:sp>
      <p:graphicFrame>
        <p:nvGraphicFramePr>
          <p:cNvPr id="154" name="Table 6"/>
          <p:cNvGraphicFramePr/>
          <p:nvPr/>
        </p:nvGraphicFramePr>
        <p:xfrm>
          <a:off x="838080" y="4744440"/>
          <a:ext cx="11023920" cy="761760"/>
        </p:xfrm>
        <a:graphic>
          <a:graphicData uri="http://schemas.openxmlformats.org/drawingml/2006/table">
            <a:tbl>
              <a:tblPr/>
              <a:tblGrid>
                <a:gridCol w="847800"/>
                <a:gridCol w="847800"/>
                <a:gridCol w="847800"/>
                <a:gridCol w="847800"/>
                <a:gridCol w="847800"/>
                <a:gridCol w="847800"/>
                <a:gridCol w="847800"/>
                <a:gridCol w="847800"/>
                <a:gridCol w="847800"/>
                <a:gridCol w="847800"/>
                <a:gridCol w="847800"/>
                <a:gridCol w="847800"/>
                <a:gridCol w="847800"/>
              </a:tblGrid>
              <a:tr h="190440">
                <a:tc>
                  <a:txBody>
                    <a:bodyPr lIns="9360" rIns="9360" tIns="9360" bIns="0" anchor="b">
                      <a:noAutofit/>
                    </a:bodyPr>
                    <a:p>
                      <a:endParaRPr b="0" lang="en-US" sz="1100" strike="noStrike" u="none">
                        <a:solidFill>
                          <a:srgbClr val="000000"/>
                        </a:solidFill>
                        <a:uFillTx/>
                        <a:latin typeface="Aptos Narrow"/>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ai</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applications</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benefit</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business</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data</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from</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language</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large</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learn</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models</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revolutionize</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text</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r>
              <a:tr h="190440">
                <a:tc>
                  <a:txBody>
                    <a:bodyPr lIns="9360" rIns="9360" tIns="9360" bIns="0" anchor="b">
                      <a:noAutofit/>
                    </a:bodyPr>
                    <a:p>
                      <a:pPr algn="ctr" defTabSz="914400">
                        <a:lnSpc>
                          <a:spcPct val="100000"/>
                        </a:lnSpc>
                      </a:pPr>
                      <a:r>
                        <a:rPr b="0" lang="en-US" sz="1100" strike="noStrike" u="none">
                          <a:solidFill>
                            <a:srgbClr val="000000"/>
                          </a:solidFill>
                          <a:uFillTx/>
                          <a:latin typeface="Calibri"/>
                        </a:rPr>
                        <a:t>Doc 1</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0.3935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0.3935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0.5174</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0.3935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0.5174</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190440">
                <a:tc>
                  <a:txBody>
                    <a:bodyPr lIns="9360" rIns="9360" tIns="9360" bIns="0" anchor="b">
                      <a:noAutofit/>
                    </a:bodyPr>
                    <a:p>
                      <a:pPr algn="ctr" defTabSz="914400">
                        <a:lnSpc>
                          <a:spcPct val="100000"/>
                        </a:lnSpc>
                      </a:pPr>
                      <a:r>
                        <a:rPr b="0" lang="en-US" sz="1100" strike="noStrike" u="none">
                          <a:solidFill>
                            <a:srgbClr val="000000"/>
                          </a:solidFill>
                          <a:uFillTx/>
                          <a:latin typeface="Calibri"/>
                        </a:rPr>
                        <a:t>Doc 2</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0.4905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0.4905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0.4905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0.373</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0.373</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190440">
                <a:tc>
                  <a:txBody>
                    <a:bodyPr lIns="9360" rIns="9360" tIns="9360" bIns="0" anchor="b">
                      <a:noAutofit/>
                    </a:bodyPr>
                    <a:p>
                      <a:pPr algn="ctr" defTabSz="914400">
                        <a:lnSpc>
                          <a:spcPct val="100000"/>
                        </a:lnSpc>
                      </a:pPr>
                      <a:r>
                        <a:rPr b="0" lang="en-US" sz="1100" strike="noStrike" u="none">
                          <a:solidFill>
                            <a:srgbClr val="000000"/>
                          </a:solidFill>
                          <a:uFillTx/>
                          <a:latin typeface="Calibri"/>
                        </a:rPr>
                        <a:t>Doc 3</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lt1">
                        <a:lumMod val="75000"/>
                      </a:schemeClr>
                    </a:solid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0.4595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0.3495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0.3495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0.4595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0.3495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9360" rIns="9360" tIns="9360" bIns="0" anchor="b">
                      <a:noAutofit/>
                    </a:bodyPr>
                    <a:p>
                      <a:pPr algn="ctr" defTabSz="914400">
                        <a:lnSpc>
                          <a:spcPct val="100000"/>
                        </a:lnSpc>
                      </a:pPr>
                      <a:r>
                        <a:rPr b="0" lang="en-US" sz="1100" strike="noStrike" u="none">
                          <a:solidFill>
                            <a:srgbClr val="000000"/>
                          </a:solidFill>
                          <a:uFillTx/>
                          <a:latin typeface="Calibri"/>
                        </a:rPr>
                        <a:t>0.4595</a:t>
                      </a:r>
                      <a:endParaRPr b="0" lang="en-US" sz="1100" strike="noStrike" u="none">
                        <a:solidFill>
                          <a:srgbClr val="000000"/>
                        </a:solidFill>
                        <a:uFillTx/>
                        <a:latin typeface="Arial"/>
                      </a:endParaRPr>
                    </a:p>
                  </a:txBody>
                  <a:tcPr anchor="b" marL="9360" marR="936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Advantages of TF-IDF</a:t>
            </a:r>
            <a:endParaRPr b="0" lang="en-US" sz="2800" strike="noStrike" u="none">
              <a:solidFill>
                <a:schemeClr val="dk1"/>
              </a:solidFill>
              <a:uFillTx/>
              <a:latin typeface="Calibri"/>
            </a:endParaRPr>
          </a:p>
        </p:txBody>
      </p:sp>
      <p:sp>
        <p:nvSpPr>
          <p:cNvPr id="156"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fontScale="92500" lnSpcReduction="9999"/>
          </a:bodyPr>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Advantages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Reduces the impact of frequently occurring terms (like "the", "is", "of")</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Highlights terms that are distinctive to specific documents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Relatively simple to implement and computationally efficient</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Works well for sparse data</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Limitations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Still ignores word order and semantics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Cannot capture relationships between related terms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May not work well for very short texts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Struggles with synonyms and polysemy</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TF-IDF serves as a cornerstone technique in information retrieval and text mining, and remains widely used despite the emergence of more advanced embedding-based approaches.</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Limitations of BoW Method</a:t>
            </a:r>
            <a:endParaRPr b="0" lang="en-US" sz="2800" strike="noStrike" u="none">
              <a:solidFill>
                <a:schemeClr val="dk1"/>
              </a:solidFill>
              <a:uFillTx/>
              <a:latin typeface="Calibri"/>
            </a:endParaRPr>
          </a:p>
        </p:txBody>
      </p:sp>
      <p:sp>
        <p:nvSpPr>
          <p:cNvPr id="158"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a:bodyPr>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Loses word order information</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Ignores semantics and context</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Creates high-dimensional, sparse vectors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Struggles with out-of-vocabulary words</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831960" y="3429000"/>
            <a:ext cx="10515240" cy="1410120"/>
          </a:xfrm>
          <a:prstGeom prst="rect">
            <a:avLst/>
          </a:prstGeom>
          <a:noFill/>
          <a:ln w="0">
            <a:noFill/>
          </a:ln>
        </p:spPr>
        <p:txBody>
          <a:bodyPr lIns="91440" rIns="91440" tIns="45720" bIns="45720" anchor="b">
            <a:noAutofit/>
          </a:bodyPr>
          <a:p>
            <a:pPr indent="0" defTabSz="914400">
              <a:lnSpc>
                <a:spcPct val="90000"/>
              </a:lnSpc>
              <a:buNone/>
            </a:pPr>
            <a:r>
              <a:rPr b="0" lang="en-US" sz="6000" strike="noStrike" u="none">
                <a:solidFill>
                  <a:schemeClr val="dk1"/>
                </a:solidFill>
                <a:uFillTx/>
                <a:latin typeface="Calibri Light"/>
              </a:rPr>
              <a:t>Practical Example</a:t>
            </a:r>
            <a:endParaRPr b="0" lang="en-US" sz="6000" strike="noStrike" u="none">
              <a:solidFill>
                <a:schemeClr val="dk1"/>
              </a:solidFill>
              <a:uFillTx/>
              <a:latin typeface="Calibri"/>
            </a:endParaRPr>
          </a:p>
        </p:txBody>
      </p:sp>
      <p:sp>
        <p:nvSpPr>
          <p:cNvPr id="160" name="PlaceHolder 2"/>
          <p:cNvSpPr>
            <a:spLocks noGrp="1"/>
          </p:cNvSpPr>
          <p:nvPr>
            <p:ph/>
          </p:nvPr>
        </p:nvSpPr>
        <p:spPr>
          <a:xfrm>
            <a:off x="831960" y="4956120"/>
            <a:ext cx="10515240" cy="1133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400" strike="noStrike" u="none">
                <a:solidFill>
                  <a:srgbClr val="29261b"/>
                </a:solidFill>
                <a:uFillTx/>
                <a:latin typeface="var(--font-tiempos)"/>
              </a:rPr>
              <a:t>Movie Review Sentiment Analysis Pipeline</a:t>
            </a: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Sentiment Analysis of Movie Reviews</a:t>
            </a:r>
            <a:endParaRPr b="0" lang="en-US" sz="2800" strike="noStrike" u="none">
              <a:solidFill>
                <a:schemeClr val="dk1"/>
              </a:solidFill>
              <a:uFillTx/>
              <a:latin typeface="Calibri"/>
            </a:endParaRPr>
          </a:p>
        </p:txBody>
      </p:sp>
      <p:sp>
        <p:nvSpPr>
          <p:cNvPr id="162" name="PlaceHolder 2"/>
          <p:cNvSpPr>
            <a:spLocks noGrp="1"/>
          </p:cNvSpPr>
          <p:nvPr>
            <p:ph/>
          </p:nvPr>
        </p:nvSpPr>
        <p:spPr>
          <a:xfrm>
            <a:off x="838080" y="1706040"/>
            <a:ext cx="10515240" cy="3009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This application will go through the entire text preprocessing pipeline and show how it contributes to a real-world NLP task.</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Setup:</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Dataset: Use a small dataset of movie reviews (positive and negative) - you could use a subset of IMDB reviews or create 10-15 simple examples.</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Visual Flow: Create a slide that shows the entire pipeline:</a:t>
            </a:r>
            <a:endParaRPr b="0" lang="en-US" sz="20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Raw Text → Tokenization → Normalization → Stop Words Removal → Stemming/Lemmatization → BoW → Classification</a:t>
            </a:r>
            <a:endParaRPr b="0" lang="en-US" sz="1800" strike="noStrike" u="none">
              <a:solidFill>
                <a:schemeClr val="dk1"/>
              </a:solidFill>
              <a:uFillTx/>
              <a:latin typeface="Calibri"/>
            </a:endParaRPr>
          </a:p>
        </p:txBody>
      </p:sp>
      <p:sp>
        <p:nvSpPr>
          <p:cNvPr id="163" name="Content Placeholder 2"/>
          <p:cNvSpPr/>
          <p:nvPr/>
        </p:nvSpPr>
        <p:spPr>
          <a:xfrm>
            <a:off x="4628520" y="5378760"/>
            <a:ext cx="2113560" cy="399600"/>
          </a:xfrm>
          <a:prstGeom prst="rect">
            <a:avLst/>
          </a:prstGeom>
          <a:noFill/>
          <a:ln w="0">
            <a:noFill/>
          </a:ln>
        </p:spPr>
        <p:style>
          <a:lnRef idx="0"/>
          <a:fillRef idx="0"/>
          <a:effectRef idx="0"/>
          <a:fontRef idx="minor"/>
        </p:style>
        <p:txBody>
          <a:bodyPr anchor="t">
            <a:normAutofit fontScale="62500" lnSpcReduction="19999"/>
          </a:bodyPr>
          <a:p>
            <a:pPr defTabSz="914400">
              <a:lnSpc>
                <a:spcPct val="90000"/>
              </a:lnSpc>
              <a:spcBef>
                <a:spcPts val="1001"/>
              </a:spcBef>
              <a:tabLst>
                <a:tab algn="l" pos="0"/>
              </a:tabLst>
            </a:pPr>
            <a:r>
              <a:rPr b="0" lang="en-US" sz="2400" strike="noStrike" u="none">
                <a:solidFill>
                  <a:schemeClr val="dk1"/>
                </a:solidFill>
                <a:uFillTx/>
                <a:latin typeface="Calibri"/>
              </a:rPr>
              <a:t>Click to open code file</a:t>
            </a:r>
            <a:endParaRPr b="0" lang="en-US" sz="2400" strike="noStrike" u="none">
              <a:solidFill>
                <a:srgbClr val="000000"/>
              </a:solidFill>
              <a:uFillTx/>
              <a:latin typeface="Arial"/>
            </a:endParaRPr>
          </a:p>
        </p:txBody>
      </p:sp>
      <p:pic>
        <p:nvPicPr>
          <p:cNvPr id="164" name="Graphic 6" descr="">
            <a:hlinkClick r:id="rId1"/>
          </p:cNvPr>
          <p:cNvPicPr/>
          <p:nvPr/>
        </p:nvPicPr>
        <p:blipFill>
          <a:blip r:embed="rId2">
            <a:extLst>
              <a:ext uri="{96DAC541-7B7A-43D3-8B79-37D633B846F1}">
                <asvg:svgBlip xmlns:asvg="http://schemas.microsoft.com/office/drawing/2016/SVG/main" r:embed="rId3"/>
              </a:ext>
            </a:extLst>
          </a:blip>
          <a:stretch/>
        </p:blipFill>
        <p:spPr>
          <a:xfrm>
            <a:off x="4981680" y="5151960"/>
            <a:ext cx="1114200" cy="190080"/>
          </a:xfrm>
          <a:prstGeom prst="rect">
            <a:avLst/>
          </a:prstGeom>
          <a:noFill/>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Box 4"/>
          <p:cNvSpPr/>
          <p:nvPr/>
        </p:nvSpPr>
        <p:spPr>
          <a:xfrm>
            <a:off x="378720" y="360000"/>
            <a:ext cx="11188080" cy="660852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200" strike="noStrike" u="none">
                <a:solidFill>
                  <a:srgbClr val="0000ff"/>
                </a:solidFill>
                <a:uFillTx/>
                <a:latin typeface="Consolas"/>
              </a:rPr>
              <a:t>import</a:t>
            </a:r>
            <a:r>
              <a:rPr b="0" lang="en-US" sz="1200" strike="noStrike" u="none">
                <a:solidFill>
                  <a:srgbClr val="000000"/>
                </a:solidFill>
                <a:uFillTx/>
                <a:latin typeface="Consolas"/>
              </a:rPr>
              <a:t> nltk</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import</a:t>
            </a:r>
            <a:r>
              <a:rPr b="0" lang="en-US" sz="1200" strike="noStrike" u="none">
                <a:solidFill>
                  <a:srgbClr val="000000"/>
                </a:solidFill>
                <a:uFillTx/>
                <a:latin typeface="Consolas"/>
              </a:rPr>
              <a:t> pandas </a:t>
            </a:r>
            <a:r>
              <a:rPr b="0" lang="en-US" sz="1200" strike="noStrike" u="none">
                <a:solidFill>
                  <a:srgbClr val="0000ff"/>
                </a:solidFill>
                <a:uFillTx/>
                <a:latin typeface="Consolas"/>
              </a:rPr>
              <a:t>as</a:t>
            </a:r>
            <a:r>
              <a:rPr b="0" lang="en-US" sz="1200" strike="noStrike" u="none">
                <a:solidFill>
                  <a:srgbClr val="000000"/>
                </a:solidFill>
                <a:uFillTx/>
                <a:latin typeface="Consolas"/>
              </a:rPr>
              <a:t> pd</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import</a:t>
            </a:r>
            <a:r>
              <a:rPr b="0" lang="en-US" sz="1200" strike="noStrike" u="none">
                <a:solidFill>
                  <a:srgbClr val="000000"/>
                </a:solidFill>
                <a:uFillTx/>
                <a:latin typeface="Consolas"/>
              </a:rPr>
              <a:t> re</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nltk.tokenize </a:t>
            </a:r>
            <a:r>
              <a:rPr b="0" lang="en-US" sz="1200" strike="noStrike" u="none">
                <a:solidFill>
                  <a:srgbClr val="0000ff"/>
                </a:solidFill>
                <a:uFillTx/>
                <a:latin typeface="Consolas"/>
              </a:rPr>
              <a:t>import</a:t>
            </a:r>
            <a:r>
              <a:rPr b="0" lang="en-US" sz="1200" strike="noStrike" u="none">
                <a:solidFill>
                  <a:srgbClr val="000000"/>
                </a:solidFill>
                <a:uFillTx/>
                <a:latin typeface="Consolas"/>
              </a:rPr>
              <a:t> word_tokenize</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nltk.corpus </a:t>
            </a:r>
            <a:r>
              <a:rPr b="0" lang="en-US" sz="1200" strike="noStrike" u="none">
                <a:solidFill>
                  <a:srgbClr val="0000ff"/>
                </a:solidFill>
                <a:uFillTx/>
                <a:latin typeface="Consolas"/>
              </a:rPr>
              <a:t>import</a:t>
            </a:r>
            <a:r>
              <a:rPr b="0" lang="en-US" sz="1200" strike="noStrike" u="none">
                <a:solidFill>
                  <a:srgbClr val="000000"/>
                </a:solidFill>
                <a:uFillTx/>
                <a:latin typeface="Consolas"/>
              </a:rPr>
              <a:t> stopwords</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nltk.stem </a:t>
            </a:r>
            <a:r>
              <a:rPr b="0" lang="en-US" sz="1200" strike="noStrike" u="none">
                <a:solidFill>
                  <a:srgbClr val="0000ff"/>
                </a:solidFill>
                <a:uFillTx/>
                <a:latin typeface="Consolas"/>
              </a:rPr>
              <a:t>import</a:t>
            </a:r>
            <a:r>
              <a:rPr b="0" lang="en-US" sz="1200" strike="noStrike" u="none">
                <a:solidFill>
                  <a:srgbClr val="000000"/>
                </a:solidFill>
                <a:uFillTx/>
                <a:latin typeface="Consolas"/>
              </a:rPr>
              <a:t> PorterStemmer, WordNetLemmatizer</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sklearn.feature_extraction.text </a:t>
            </a:r>
            <a:r>
              <a:rPr b="0" lang="en-US" sz="1200" strike="noStrike" u="none">
                <a:solidFill>
                  <a:srgbClr val="0000ff"/>
                </a:solidFill>
                <a:uFillTx/>
                <a:latin typeface="Consolas"/>
              </a:rPr>
              <a:t>import</a:t>
            </a:r>
            <a:r>
              <a:rPr b="0" lang="en-US" sz="1200" strike="noStrike" u="none">
                <a:solidFill>
                  <a:srgbClr val="000000"/>
                </a:solidFill>
                <a:uFillTx/>
                <a:latin typeface="Consolas"/>
              </a:rPr>
              <a:t> CountVectorizer</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sklearn.model_selection </a:t>
            </a:r>
            <a:r>
              <a:rPr b="0" lang="en-US" sz="1200" strike="noStrike" u="none">
                <a:solidFill>
                  <a:srgbClr val="0000ff"/>
                </a:solidFill>
                <a:uFillTx/>
                <a:latin typeface="Consolas"/>
              </a:rPr>
              <a:t>import</a:t>
            </a:r>
            <a:r>
              <a:rPr b="0" lang="en-US" sz="1200" strike="noStrike" u="none">
                <a:solidFill>
                  <a:srgbClr val="000000"/>
                </a:solidFill>
                <a:uFillTx/>
                <a:latin typeface="Consolas"/>
              </a:rPr>
              <a:t> train_test_split</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sklearn.naive_bayes </a:t>
            </a:r>
            <a:r>
              <a:rPr b="0" lang="en-US" sz="1200" strike="noStrike" u="none">
                <a:solidFill>
                  <a:srgbClr val="0000ff"/>
                </a:solidFill>
                <a:uFillTx/>
                <a:latin typeface="Consolas"/>
              </a:rPr>
              <a:t>import</a:t>
            </a:r>
            <a:r>
              <a:rPr b="0" lang="en-US" sz="1200" strike="noStrike" u="none">
                <a:solidFill>
                  <a:srgbClr val="000000"/>
                </a:solidFill>
                <a:uFillTx/>
                <a:latin typeface="Consolas"/>
              </a:rPr>
              <a:t> MultinomialNB</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from</a:t>
            </a:r>
            <a:r>
              <a:rPr b="0" lang="en-US" sz="1200" strike="noStrike" u="none">
                <a:solidFill>
                  <a:srgbClr val="000000"/>
                </a:solidFill>
                <a:uFillTx/>
                <a:latin typeface="Consolas"/>
              </a:rPr>
              <a:t> sklearn.metrics </a:t>
            </a:r>
            <a:r>
              <a:rPr b="0" lang="en-US" sz="1200" strike="noStrike" u="none">
                <a:solidFill>
                  <a:srgbClr val="0000ff"/>
                </a:solidFill>
                <a:uFillTx/>
                <a:latin typeface="Consolas"/>
              </a:rPr>
              <a:t>import</a:t>
            </a:r>
            <a:r>
              <a:rPr b="0" lang="en-US" sz="1200" strike="noStrike" u="none">
                <a:solidFill>
                  <a:srgbClr val="000000"/>
                </a:solidFill>
                <a:uFillTx/>
                <a:latin typeface="Consolas"/>
              </a:rPr>
              <a:t> accuracy_score, classification_report</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Download necessary NLTK data</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nltk.download(</a:t>
            </a:r>
            <a:r>
              <a:rPr b="0" lang="en-US" sz="1200" strike="noStrike" u="none">
                <a:solidFill>
                  <a:srgbClr val="a31515"/>
                </a:solidFill>
                <a:uFillTx/>
                <a:latin typeface="Consolas"/>
              </a:rPr>
              <a:t>'punkt'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nltk.download(</a:t>
            </a:r>
            <a:r>
              <a:rPr b="0" lang="en-US" sz="1200" strike="noStrike" u="none">
                <a:solidFill>
                  <a:srgbClr val="a31515"/>
                </a:solidFill>
                <a:uFillTx/>
                <a:latin typeface="Consolas"/>
              </a:rPr>
              <a:t>'stopwords'</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nltk.download(</a:t>
            </a:r>
            <a:r>
              <a:rPr b="0" lang="en-US" sz="1200" strike="noStrike" u="none">
                <a:solidFill>
                  <a:srgbClr val="a31515"/>
                </a:solidFill>
                <a:uFillTx/>
                <a:latin typeface="Consolas"/>
              </a:rPr>
              <a:t>'wordnet'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Sample movie reviews dataset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reviews = [</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"This movie was absolutely fantastic! Great acting and storyline."</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1</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"I loved this film. The characters were so well developed."</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1</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"Amazing cinematography and directing. One of the best films I've seen."</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1</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"The acting was good but the story was too predictable."</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"Terrible movie. I wasted two hours of my life."</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"The special effects were amazing but everything else was boring."</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"I enjoyed the action sequences but the dialogue was poorly written."</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"Brilliant performance by the lead actor! Highly recommended."</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1</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"So disappointing. The trailer was better than the actual movie."</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"A masterpiece of modern cinema. I was captivated throughout."</a:t>
            </a:r>
            <a:r>
              <a:rPr b="0" lang="en-US" sz="1200" strike="noStrike" u="none">
                <a:solidFill>
                  <a:srgbClr val="000000"/>
                </a:solidFill>
                <a:uFillTx/>
                <a:latin typeface="Consolas"/>
              </a:rPr>
              <a:t>, </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a:t>
            </a:r>
            <a:r>
              <a:rPr b="0" lang="en-US" sz="1200" strike="noStrike" u="none">
                <a:solidFill>
                  <a:srgbClr val="098658"/>
                </a:solidFill>
                <a:uFillTx/>
                <a:latin typeface="Consolas"/>
              </a:rPr>
              <a:t>1</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endParaRPr b="0" lang="en-US" sz="1200" strike="noStrike" u="none">
              <a:solidFill>
                <a:srgbClr val="000000"/>
              </a:solidFill>
              <a:uFillTx/>
              <a:latin typeface="Arial"/>
            </a:endParaRPr>
          </a:p>
          <a:p>
            <a:pPr defTabSz="914400">
              <a:lnSpc>
                <a:spcPts val="1426"/>
              </a:lnSpc>
            </a:pPr>
            <a:r>
              <a:rPr b="0" lang="en-US" sz="1200" strike="noStrike" u="none">
                <a:solidFill>
                  <a:srgbClr val="008000"/>
                </a:solidFill>
                <a:uFillTx/>
                <a:latin typeface="Consolas"/>
              </a:rPr>
              <a:t># Create DataFrame</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df = pd.DataFrame(reviews)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"Original Data:"</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print(df.head())</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"\n"</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endParaRPr b="0" lang="en-US" sz="12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TextBox 5"/>
          <p:cNvSpPr/>
          <p:nvPr/>
        </p:nvSpPr>
        <p:spPr>
          <a:xfrm>
            <a:off x="195840" y="307800"/>
            <a:ext cx="11508120" cy="624636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200" strike="noStrike" u="none">
                <a:solidFill>
                  <a:srgbClr val="008000"/>
                </a:solidFill>
                <a:uFillTx/>
                <a:latin typeface="Consolas"/>
              </a:rPr>
              <a:t># Step 1: Tokenization</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tokenize_text(text):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tokens = word_tokenize(text)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"After tokenization: </a:t>
            </a:r>
            <a:r>
              <a:rPr b="0" lang="en-US" sz="1200" strike="noStrike" u="none">
                <a:solidFill>
                  <a:srgbClr val="000000"/>
                </a:solidFill>
                <a:uFillTx/>
                <a:latin typeface="Consolas"/>
              </a:rPr>
              <a:t>{tokens}</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tokens</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Step 2: Normalization</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normalize_tokens(tokens):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8000"/>
                </a:solidFill>
                <a:uFillTx/>
                <a:latin typeface="Consolas"/>
              </a:rPr>
              <a:t># Convert to lowercase and remove punctuation</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normalized = [re.sub(</a:t>
            </a:r>
            <a:r>
              <a:rPr b="0" lang="en-US" sz="1200" strike="noStrike" u="none">
                <a:solidFill>
                  <a:srgbClr val="0000ff"/>
                </a:solidFill>
                <a:uFillTx/>
                <a:latin typeface="Consolas"/>
              </a:rPr>
              <a:t>r</a:t>
            </a:r>
            <a:r>
              <a:rPr b="0" lang="en-US" sz="1200" strike="noStrike" u="none">
                <a:solidFill>
                  <a:srgbClr val="811f3f"/>
                </a:solidFill>
                <a:uFillTx/>
                <a:latin typeface="Consolas"/>
              </a:rPr>
              <a:t>'[</a:t>
            </a:r>
            <a:r>
              <a:rPr b="0" lang="en-US" sz="1200" strike="noStrike" u="none">
                <a:solidFill>
                  <a:srgbClr val="000000"/>
                </a:solidFill>
                <a:uFillTx/>
                <a:latin typeface="Consolas"/>
              </a:rPr>
              <a:t>^</a:t>
            </a:r>
            <a:r>
              <a:rPr b="0" lang="en-US" sz="1200" strike="noStrike" u="none">
                <a:solidFill>
                  <a:srgbClr val="811f3f"/>
                </a:solidFill>
                <a:uFillTx/>
                <a:latin typeface="Consolas"/>
              </a:rPr>
              <a:t>\w\s]'</a:t>
            </a:r>
            <a:r>
              <a:rPr b="0" lang="en-US" sz="1200" strike="noStrike" u="none">
                <a:solidFill>
                  <a:srgbClr val="000000"/>
                </a:solidFill>
                <a:uFillTx/>
                <a:latin typeface="Consolas"/>
              </a:rPr>
              <a:t>, </a:t>
            </a:r>
            <a:r>
              <a:rPr b="0" lang="en-US" sz="1200" strike="noStrike" u="none">
                <a:solidFill>
                  <a:srgbClr val="a31515"/>
                </a:solidFill>
                <a:uFillTx/>
                <a:latin typeface="Consolas"/>
              </a:rPr>
              <a:t>''</a:t>
            </a:r>
            <a:r>
              <a:rPr b="0" lang="en-US" sz="1200" strike="noStrike" u="none">
                <a:solidFill>
                  <a:srgbClr val="000000"/>
                </a:solidFill>
                <a:uFillTx/>
                <a:latin typeface="Consolas"/>
              </a:rPr>
              <a:t>, token.lower()) </a:t>
            </a:r>
            <a:r>
              <a:rPr b="0" lang="en-US" sz="1200" strike="noStrike" u="none">
                <a:solidFill>
                  <a:srgbClr val="0000ff"/>
                </a:solidFill>
                <a:uFillTx/>
                <a:latin typeface="Consolas"/>
              </a:rPr>
              <a:t>for</a:t>
            </a:r>
            <a:r>
              <a:rPr b="0" lang="en-US" sz="1200" strike="noStrike" u="none">
                <a:solidFill>
                  <a:srgbClr val="000000"/>
                </a:solidFill>
                <a:uFillTx/>
                <a:latin typeface="Consolas"/>
              </a:rPr>
              <a:t> token </a:t>
            </a:r>
            <a:r>
              <a:rPr b="0" lang="en-US" sz="1200" strike="noStrike" u="none">
                <a:solidFill>
                  <a:srgbClr val="0000ff"/>
                </a:solidFill>
                <a:uFillTx/>
                <a:latin typeface="Consolas"/>
              </a:rPr>
              <a:t>in</a:t>
            </a:r>
            <a:r>
              <a:rPr b="0" lang="en-US" sz="1200" strike="noStrike" u="none">
                <a:solidFill>
                  <a:srgbClr val="000000"/>
                </a:solidFill>
                <a:uFillTx/>
                <a:latin typeface="Consolas"/>
              </a:rPr>
              <a:t> 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normalized = [token </a:t>
            </a:r>
            <a:r>
              <a:rPr b="0" lang="en-US" sz="1200" strike="noStrike" u="none">
                <a:solidFill>
                  <a:srgbClr val="0000ff"/>
                </a:solidFill>
                <a:uFillTx/>
                <a:latin typeface="Consolas"/>
              </a:rPr>
              <a:t>for</a:t>
            </a:r>
            <a:r>
              <a:rPr b="0" lang="en-US" sz="1200" strike="noStrike" u="none">
                <a:solidFill>
                  <a:srgbClr val="000000"/>
                </a:solidFill>
                <a:uFillTx/>
                <a:latin typeface="Consolas"/>
              </a:rPr>
              <a:t> token </a:t>
            </a:r>
            <a:r>
              <a:rPr b="0" lang="en-US" sz="1200" strike="noStrike" u="none">
                <a:solidFill>
                  <a:srgbClr val="0000ff"/>
                </a:solidFill>
                <a:uFillTx/>
                <a:latin typeface="Consolas"/>
              </a:rPr>
              <a:t>in</a:t>
            </a:r>
            <a:r>
              <a:rPr b="0" lang="en-US" sz="1200" strike="noStrike" u="none">
                <a:solidFill>
                  <a:srgbClr val="000000"/>
                </a:solidFill>
                <a:uFillTx/>
                <a:latin typeface="Consolas"/>
              </a:rPr>
              <a:t> normalized </a:t>
            </a:r>
            <a:r>
              <a:rPr b="0" lang="en-US" sz="1200" strike="noStrike" u="none">
                <a:solidFill>
                  <a:srgbClr val="0000ff"/>
                </a:solidFill>
                <a:uFillTx/>
                <a:latin typeface="Consolas"/>
              </a:rPr>
              <a:t>if</a:t>
            </a:r>
            <a:r>
              <a:rPr b="0" lang="en-US" sz="1200" strike="noStrike" u="none">
                <a:solidFill>
                  <a:srgbClr val="000000"/>
                </a:solidFill>
                <a:uFillTx/>
                <a:latin typeface="Consolas"/>
              </a:rPr>
              <a:t> token]  </a:t>
            </a:r>
            <a:r>
              <a:rPr b="0" lang="en-US" sz="1200" strike="noStrike" u="none">
                <a:solidFill>
                  <a:srgbClr val="008000"/>
                </a:solidFill>
                <a:uFillTx/>
                <a:latin typeface="Consolas"/>
              </a:rPr>
              <a:t># Remove empty strings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"After normalization: </a:t>
            </a:r>
            <a:r>
              <a:rPr b="0" lang="en-US" sz="1200" strike="noStrike" u="none">
                <a:solidFill>
                  <a:srgbClr val="000000"/>
                </a:solidFill>
                <a:uFillTx/>
                <a:latin typeface="Consolas"/>
              </a:rPr>
              <a:t>{normalized}</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normalized</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Step 3: Remove stop words</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remove_stopwords(tokens):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stop_words = set(stopwords.words(</a:t>
            </a:r>
            <a:r>
              <a:rPr b="0" lang="en-US" sz="1200" strike="noStrike" u="none">
                <a:solidFill>
                  <a:srgbClr val="a31515"/>
                </a:solidFill>
                <a:uFillTx/>
                <a:latin typeface="Consolas"/>
              </a:rPr>
              <a:t>'english'</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filtered = [token </a:t>
            </a:r>
            <a:r>
              <a:rPr b="0" lang="en-US" sz="1200" strike="noStrike" u="none">
                <a:solidFill>
                  <a:srgbClr val="0000ff"/>
                </a:solidFill>
                <a:uFillTx/>
                <a:latin typeface="Consolas"/>
              </a:rPr>
              <a:t>for</a:t>
            </a:r>
            <a:r>
              <a:rPr b="0" lang="en-US" sz="1200" strike="noStrike" u="none">
                <a:solidFill>
                  <a:srgbClr val="000000"/>
                </a:solidFill>
                <a:uFillTx/>
                <a:latin typeface="Consolas"/>
              </a:rPr>
              <a:t> token </a:t>
            </a:r>
            <a:r>
              <a:rPr b="0" lang="en-US" sz="1200" strike="noStrike" u="none">
                <a:solidFill>
                  <a:srgbClr val="0000ff"/>
                </a:solidFill>
                <a:uFillTx/>
                <a:latin typeface="Consolas"/>
              </a:rPr>
              <a:t>in</a:t>
            </a:r>
            <a:r>
              <a:rPr b="0" lang="en-US" sz="1200" strike="noStrike" u="none">
                <a:solidFill>
                  <a:srgbClr val="000000"/>
                </a:solidFill>
                <a:uFillTx/>
                <a:latin typeface="Consolas"/>
              </a:rPr>
              <a:t> tokens </a:t>
            </a:r>
            <a:r>
              <a:rPr b="0" lang="en-US" sz="1200" strike="noStrike" u="none">
                <a:solidFill>
                  <a:srgbClr val="0000ff"/>
                </a:solidFill>
                <a:uFillTx/>
                <a:latin typeface="Consolas"/>
              </a:rPr>
              <a:t>if</a:t>
            </a:r>
            <a:r>
              <a:rPr b="0" lang="en-US" sz="1200" strike="noStrike" u="none">
                <a:solidFill>
                  <a:srgbClr val="000000"/>
                </a:solidFill>
                <a:uFillTx/>
                <a:latin typeface="Consolas"/>
              </a:rPr>
              <a:t> token </a:t>
            </a:r>
            <a:r>
              <a:rPr b="0" lang="en-US" sz="1200" strike="noStrike" u="none">
                <a:solidFill>
                  <a:srgbClr val="0000ff"/>
                </a:solidFill>
                <a:uFillTx/>
                <a:latin typeface="Consolas"/>
              </a:rPr>
              <a:t>not</a:t>
            </a:r>
            <a:r>
              <a:rPr b="0" lang="en-US" sz="1200" strike="noStrike" u="none">
                <a:solidFill>
                  <a:srgbClr val="000000"/>
                </a:solidFill>
                <a:uFillTx/>
                <a:latin typeface="Consolas"/>
              </a:rPr>
              <a:t> </a:t>
            </a:r>
            <a:r>
              <a:rPr b="0" lang="en-US" sz="1200" strike="noStrike" u="none">
                <a:solidFill>
                  <a:srgbClr val="0000ff"/>
                </a:solidFill>
                <a:uFillTx/>
                <a:latin typeface="Consolas"/>
              </a:rPr>
              <a:t>in</a:t>
            </a:r>
            <a:r>
              <a:rPr b="0" lang="en-US" sz="1200" strike="noStrike" u="none">
                <a:solidFill>
                  <a:srgbClr val="000000"/>
                </a:solidFill>
                <a:uFillTx/>
                <a:latin typeface="Consolas"/>
              </a:rPr>
              <a:t> stop_words]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"After stopword removal: </a:t>
            </a:r>
            <a:r>
              <a:rPr b="0" lang="en-US" sz="1200" strike="noStrike" u="none">
                <a:solidFill>
                  <a:srgbClr val="000000"/>
                </a:solidFill>
                <a:uFillTx/>
                <a:latin typeface="Consolas"/>
              </a:rPr>
              <a:t>{filtered}</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filtered</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Step 4a: Stemming</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stem_tokens(tokens):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stemmer = PorterStemmer()</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stemmed = [stemmer.stem(token) </a:t>
            </a:r>
            <a:r>
              <a:rPr b="0" lang="en-US" sz="1200" strike="noStrike" u="none">
                <a:solidFill>
                  <a:srgbClr val="0000ff"/>
                </a:solidFill>
                <a:uFillTx/>
                <a:latin typeface="Consolas"/>
              </a:rPr>
              <a:t>for</a:t>
            </a:r>
            <a:r>
              <a:rPr b="0" lang="en-US" sz="1200" strike="noStrike" u="none">
                <a:solidFill>
                  <a:srgbClr val="000000"/>
                </a:solidFill>
                <a:uFillTx/>
                <a:latin typeface="Consolas"/>
              </a:rPr>
              <a:t> token </a:t>
            </a:r>
            <a:r>
              <a:rPr b="0" lang="en-US" sz="1200" strike="noStrike" u="none">
                <a:solidFill>
                  <a:srgbClr val="0000ff"/>
                </a:solidFill>
                <a:uFillTx/>
                <a:latin typeface="Consolas"/>
              </a:rPr>
              <a:t>in</a:t>
            </a:r>
            <a:r>
              <a:rPr b="0" lang="en-US" sz="1200" strike="noStrike" u="none">
                <a:solidFill>
                  <a:srgbClr val="000000"/>
                </a:solidFill>
                <a:uFillTx/>
                <a:latin typeface="Consolas"/>
              </a:rPr>
              <a:t> 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"After stemming: </a:t>
            </a:r>
            <a:r>
              <a:rPr b="0" lang="en-US" sz="1200" strike="noStrike" u="none">
                <a:solidFill>
                  <a:srgbClr val="000000"/>
                </a:solidFill>
                <a:uFillTx/>
                <a:latin typeface="Consolas"/>
              </a:rPr>
              <a:t>{stemmed}</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stemmed</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Step 4b: Lemmatization</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lemmatize_tokens(tokens):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lemmatizer = WordNetLemmatizer()</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lemmatized = [lemmatizer.lemmatize(token) </a:t>
            </a:r>
            <a:r>
              <a:rPr b="0" lang="en-US" sz="1200" strike="noStrike" u="none">
                <a:solidFill>
                  <a:srgbClr val="0000ff"/>
                </a:solidFill>
                <a:uFillTx/>
                <a:latin typeface="Consolas"/>
              </a:rPr>
              <a:t>for</a:t>
            </a:r>
            <a:r>
              <a:rPr b="0" lang="en-US" sz="1200" strike="noStrike" u="none">
                <a:solidFill>
                  <a:srgbClr val="000000"/>
                </a:solidFill>
                <a:uFillTx/>
                <a:latin typeface="Consolas"/>
              </a:rPr>
              <a:t> token </a:t>
            </a:r>
            <a:r>
              <a:rPr b="0" lang="en-US" sz="1200" strike="noStrike" u="none">
                <a:solidFill>
                  <a:srgbClr val="0000ff"/>
                </a:solidFill>
                <a:uFillTx/>
                <a:latin typeface="Consolas"/>
              </a:rPr>
              <a:t>in</a:t>
            </a:r>
            <a:r>
              <a:rPr b="0" lang="en-US" sz="1200" strike="noStrike" u="none">
                <a:solidFill>
                  <a:srgbClr val="000000"/>
                </a:solidFill>
                <a:uFillTx/>
                <a:latin typeface="Consolas"/>
              </a:rPr>
              <a:t> 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"After lemmatization: </a:t>
            </a:r>
            <a:r>
              <a:rPr b="0" lang="en-US" sz="1200" strike="noStrike" u="none">
                <a:solidFill>
                  <a:srgbClr val="000000"/>
                </a:solidFill>
                <a:uFillTx/>
                <a:latin typeface="Consolas"/>
              </a:rPr>
              <a:t>{lemmatized}</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lemmatized</a:t>
            </a:r>
            <a:endParaRPr b="0" lang="en-US" sz="12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Box 2"/>
          <p:cNvSpPr/>
          <p:nvPr/>
        </p:nvSpPr>
        <p:spPr>
          <a:xfrm>
            <a:off x="189360" y="-28440"/>
            <a:ext cx="11566800" cy="6970680"/>
          </a:xfrm>
          <a:prstGeom prst="rect">
            <a:avLst/>
          </a:prstGeom>
          <a:noFill/>
          <a:ln w="0">
            <a:noFill/>
          </a:ln>
        </p:spPr>
        <p:style>
          <a:lnRef idx="0"/>
          <a:fillRef idx="0"/>
          <a:effectRef idx="0"/>
          <a:fontRef idx="minor"/>
        </p:style>
        <p:txBody>
          <a:bodyPr lIns="90000" rIns="90000" tIns="45000" bIns="45000" anchor="t">
            <a:spAutoFit/>
          </a:bodyPr>
          <a:p>
            <a:pPr defTabSz="914400">
              <a:lnSpc>
                <a:spcPts val="1426"/>
              </a:lnSpc>
            </a:pPr>
            <a:r>
              <a:rPr b="0" lang="en-US" sz="1200" strike="noStrike" u="none">
                <a:solidFill>
                  <a:srgbClr val="008000"/>
                </a:solidFill>
                <a:uFillTx/>
                <a:latin typeface="Consolas"/>
              </a:rPr>
              <a:t># Complete preprocessing pipeline</a:t>
            </a:r>
            <a:endParaRPr b="0" lang="en-US" sz="1200" strike="noStrike" u="none">
              <a:solidFill>
                <a:srgbClr val="000000"/>
              </a:solidFill>
              <a:uFillTx/>
              <a:latin typeface="Arial"/>
            </a:endParaRPr>
          </a:p>
          <a:p>
            <a:pPr defTabSz="914400">
              <a:lnSpc>
                <a:spcPts val="1426"/>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preprocess_text(text, use_stemming=</a:t>
            </a:r>
            <a:r>
              <a:rPr b="0" lang="en-US" sz="1200" strike="noStrike" u="none">
                <a:solidFill>
                  <a:srgbClr val="0000ff"/>
                </a:solidFill>
                <a:uFillTx/>
                <a:latin typeface="Consolas"/>
              </a:rPr>
              <a:t>True</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tokens = tokenize_text(text)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normalized_tokens = normalize_tokens(tokens)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00"/>
                </a:solidFill>
                <a:uFillTx/>
                <a:latin typeface="Consolas"/>
              </a:rPr>
              <a:t>no_stopwords = remove_stopwords(normalized_tokens)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if</a:t>
            </a:r>
            <a:r>
              <a:rPr b="0" lang="en-US" sz="1200" strike="noStrike" u="none">
                <a:solidFill>
                  <a:srgbClr val="000000"/>
                </a:solidFill>
                <a:uFillTx/>
                <a:latin typeface="Consolas"/>
              </a:rPr>
              <a:t> use_stemming:</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stem_tokens(no_stopwords)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else</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lemmatize_tokens(no_stopwords)</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Demonstrate the preprocessing pipeline on one example</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"PREPROCESSING PIPELINE DEMONSTRATION:"</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sample_text = df[</a:t>
            </a:r>
            <a:r>
              <a:rPr b="0" lang="en-US" sz="1200" strike="noStrike" u="none">
                <a:solidFill>
                  <a:srgbClr val="a31515"/>
                </a:solidFill>
                <a:uFillTx/>
                <a:latin typeface="Consolas"/>
              </a:rPr>
              <a:t>'text'</a:t>
            </a:r>
            <a:r>
              <a:rPr b="0" lang="en-US" sz="1200" strike="noStrike" u="none">
                <a:solidFill>
                  <a:srgbClr val="000000"/>
                </a:solidFill>
                <a:uFillTx/>
                <a:latin typeface="Consolas"/>
              </a:rPr>
              <a:t>][</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"Original text: '</a:t>
            </a:r>
            <a:r>
              <a:rPr b="0" lang="en-US" sz="1200" strike="noStrike" u="none">
                <a:solidFill>
                  <a:srgbClr val="000000"/>
                </a:solidFill>
                <a:uFillTx/>
                <a:latin typeface="Consolas"/>
              </a:rPr>
              <a:t>{sample_text}</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processed_tokens = preprocess_text(sample_text, use_stemming=</a:t>
            </a:r>
            <a:r>
              <a:rPr b="0" lang="en-US" sz="1200" strike="noStrike" u="none">
                <a:solidFill>
                  <a:srgbClr val="0000ff"/>
                </a:solidFill>
                <a:uFillTx/>
                <a:latin typeface="Consolas"/>
              </a:rPr>
              <a:t>True</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"\n"</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Process all reviews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df[</a:t>
            </a:r>
            <a:r>
              <a:rPr b="0" lang="en-US" sz="1200" strike="noStrike" u="none">
                <a:solidFill>
                  <a:srgbClr val="a31515"/>
                </a:solidFill>
                <a:uFillTx/>
                <a:latin typeface="Consolas"/>
              </a:rPr>
              <a:t>'processed_text'</a:t>
            </a:r>
            <a:r>
              <a:rPr b="0" lang="en-US" sz="1200" strike="noStrike" u="none">
                <a:solidFill>
                  <a:srgbClr val="000000"/>
                </a:solidFill>
                <a:uFillTx/>
                <a:latin typeface="Consolas"/>
              </a:rPr>
              <a:t>] = df[</a:t>
            </a:r>
            <a:r>
              <a:rPr b="0" lang="en-US" sz="1200" strike="noStrike" u="none">
                <a:solidFill>
                  <a:srgbClr val="a31515"/>
                </a:solidFill>
                <a:uFillTx/>
                <a:latin typeface="Consolas"/>
              </a:rPr>
              <a:t>'text'</a:t>
            </a:r>
            <a:r>
              <a:rPr b="0" lang="en-US" sz="1200" strike="noStrike" u="none">
                <a:solidFill>
                  <a:srgbClr val="000000"/>
                </a:solidFill>
                <a:uFillTx/>
                <a:latin typeface="Consolas"/>
              </a:rPr>
              <a:t>].apply(</a:t>
            </a:r>
            <a:r>
              <a:rPr b="0" lang="en-US" sz="1200" strike="noStrike" u="none">
                <a:solidFill>
                  <a:srgbClr val="0000ff"/>
                </a:solidFill>
                <a:uFillTx/>
                <a:latin typeface="Consolas"/>
              </a:rPr>
              <a:t>lambda</a:t>
            </a:r>
            <a:r>
              <a:rPr b="0" lang="en-US" sz="1200" strike="noStrike" u="none">
                <a:solidFill>
                  <a:srgbClr val="000000"/>
                </a:solidFill>
                <a:uFillTx/>
                <a:latin typeface="Consolas"/>
              </a:rPr>
              <a:t> x: </a:t>
            </a:r>
            <a:r>
              <a:rPr b="0" lang="en-US" sz="1200" strike="noStrike" u="none">
                <a:solidFill>
                  <a:srgbClr val="a31515"/>
                </a:solidFill>
                <a:uFillTx/>
                <a:latin typeface="Consolas"/>
              </a:rPr>
              <a:t>' '</a:t>
            </a:r>
            <a:r>
              <a:rPr b="0" lang="en-US" sz="1200" strike="noStrike" u="none">
                <a:solidFill>
                  <a:srgbClr val="000000"/>
                </a:solidFill>
                <a:uFillTx/>
                <a:latin typeface="Consolas"/>
              </a:rPr>
              <a:t>.join(preprocess_text(x, use_stemming=</a:t>
            </a:r>
            <a:r>
              <a:rPr b="0" lang="en-US" sz="1200" strike="noStrike" u="none">
                <a:solidFill>
                  <a:srgbClr val="0000ff"/>
                </a:solidFill>
                <a:uFillTx/>
                <a:latin typeface="Consolas"/>
              </a:rPr>
              <a:t>True</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"Processed Reviews:"</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print(df[[</a:t>
            </a:r>
            <a:r>
              <a:rPr b="0" lang="en-US" sz="1200" strike="noStrike" u="none">
                <a:solidFill>
                  <a:srgbClr val="a31515"/>
                </a:solidFill>
                <a:uFillTx/>
                <a:latin typeface="Consolas"/>
              </a:rPr>
              <a:t>'text'</a:t>
            </a:r>
            <a:r>
              <a:rPr b="0" lang="en-US" sz="1200" strike="noStrike" u="none">
                <a:solidFill>
                  <a:srgbClr val="000000"/>
                </a:solidFill>
                <a:uFillTx/>
                <a:latin typeface="Consolas"/>
              </a:rPr>
              <a:t>, </a:t>
            </a:r>
            <a:r>
              <a:rPr b="0" lang="en-US" sz="1200" strike="noStrike" u="none">
                <a:solidFill>
                  <a:srgbClr val="a31515"/>
                </a:solidFill>
                <a:uFillTx/>
                <a:latin typeface="Consolas"/>
              </a:rPr>
              <a:t>'processed_text'</a:t>
            </a:r>
            <a:r>
              <a:rPr b="0" lang="en-US" sz="1200" strike="noStrike" u="none">
                <a:solidFill>
                  <a:srgbClr val="000000"/>
                </a:solidFill>
                <a:uFillTx/>
                <a:latin typeface="Consolas"/>
              </a:rPr>
              <a:t>]].head())</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"\n"</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Step 5: Bag of Words representation</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vectorizer = CountVectorizer()</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X = vectorizer.fit_transform(df[</a:t>
            </a:r>
            <a:r>
              <a:rPr b="0" lang="en-US" sz="1200" strike="noStrike" u="none">
                <a:solidFill>
                  <a:srgbClr val="a31515"/>
                </a:solidFill>
                <a:uFillTx/>
                <a:latin typeface="Consolas"/>
              </a:rPr>
              <a:t>'processed_text'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Show vocabulary</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"Bag of Words Vocabulary:"</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print(vectorizer.get_feature_names_out())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"\n"</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br>
              <a:rPr sz="1200"/>
            </a:br>
            <a:r>
              <a:rPr b="0" lang="en-US" sz="1200" strike="noStrike" u="none">
                <a:solidFill>
                  <a:srgbClr val="008000"/>
                </a:solidFill>
                <a:uFillTx/>
                <a:latin typeface="Consolas"/>
              </a:rPr>
              <a:t># Show BOW representation for first few documents</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"BOW Matrix (First 3 Documents):"</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bow_df = pd.DataFrame(X.toarray(), columns=vectorizer.get_feature_names_out())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print(bow_df.head(</a:t>
            </a:r>
            <a:r>
              <a:rPr b="0" lang="en-US" sz="1200" strike="noStrike" u="none">
                <a:solidFill>
                  <a:srgbClr val="098658"/>
                </a:solidFill>
                <a:uFillTx/>
                <a:latin typeface="Consolas"/>
              </a:rPr>
              <a:t>3</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426"/>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"\n"</a:t>
            </a:r>
            <a:r>
              <a:rPr b="0" lang="en-US" sz="1200" strike="noStrike" u="none">
                <a:solidFill>
                  <a:srgbClr val="000000"/>
                </a:solidFill>
                <a:uFillTx/>
                <a:latin typeface="Consolas"/>
              </a:rPr>
              <a:t>)</a:t>
            </a:r>
            <a:endParaRPr b="0" lang="en-US" sz="12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TextBox 2"/>
          <p:cNvSpPr/>
          <p:nvPr/>
        </p:nvSpPr>
        <p:spPr>
          <a:xfrm>
            <a:off x="58680" y="515160"/>
            <a:ext cx="12579120" cy="6028560"/>
          </a:xfrm>
          <a:prstGeom prst="rect">
            <a:avLst/>
          </a:prstGeom>
          <a:noFill/>
          <a:ln w="0">
            <a:noFill/>
          </a:ln>
        </p:spPr>
        <p:style>
          <a:lnRef idx="0"/>
          <a:fillRef idx="0"/>
          <a:effectRef idx="0"/>
          <a:fontRef idx="minor"/>
        </p:style>
        <p:txBody>
          <a:bodyPr lIns="90000" rIns="90000" tIns="45000" bIns="45000" anchor="t">
            <a:spAutoFit/>
          </a:bodyPr>
          <a:p>
            <a:pPr defTabSz="914400">
              <a:lnSpc>
                <a:spcPts val="1199"/>
              </a:lnSpc>
            </a:pPr>
            <a:r>
              <a:rPr b="0" lang="en-US" sz="1200" strike="noStrike" u="none">
                <a:solidFill>
                  <a:srgbClr val="008000"/>
                </a:solidFill>
                <a:uFillTx/>
                <a:latin typeface="Consolas"/>
              </a:rPr>
              <a:t># Step 6: Simple classifier</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X_train, X_test, y_train, y_test = train_test_split(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X, df[</a:t>
            </a:r>
            <a:r>
              <a:rPr b="0" lang="en-US" sz="1200" strike="noStrike" u="none">
                <a:solidFill>
                  <a:srgbClr val="a31515"/>
                </a:solidFill>
                <a:uFillTx/>
                <a:latin typeface="Consolas"/>
              </a:rPr>
              <a:t>'sentiment'</a:t>
            </a:r>
            <a:r>
              <a:rPr b="0" lang="en-US" sz="1200" strike="noStrike" u="none">
                <a:solidFill>
                  <a:srgbClr val="000000"/>
                </a:solidFill>
                <a:uFillTx/>
                <a:latin typeface="Consolas"/>
              </a:rPr>
              <a:t>], test_size=</a:t>
            </a:r>
            <a:r>
              <a:rPr b="0" lang="en-US" sz="1200" strike="noStrike" u="none">
                <a:solidFill>
                  <a:srgbClr val="098658"/>
                </a:solidFill>
                <a:uFillTx/>
                <a:latin typeface="Consolas"/>
              </a:rPr>
              <a:t>0.3</a:t>
            </a:r>
            <a:r>
              <a:rPr b="0" lang="en-US" sz="1200" strike="noStrike" u="none">
                <a:solidFill>
                  <a:srgbClr val="000000"/>
                </a:solidFill>
                <a:uFillTx/>
                <a:latin typeface="Consolas"/>
              </a:rPr>
              <a:t>, random_state=</a:t>
            </a:r>
            <a:r>
              <a:rPr b="0" lang="en-US" sz="1200" strike="noStrike" u="none">
                <a:solidFill>
                  <a:srgbClr val="098658"/>
                </a:solidFill>
                <a:uFillTx/>
                <a:latin typeface="Consolas"/>
              </a:rPr>
              <a:t>42</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br>
              <a:rPr sz="1200"/>
            </a:br>
            <a:r>
              <a:rPr b="0" lang="en-US" sz="1200" strike="noStrike" u="none">
                <a:solidFill>
                  <a:srgbClr val="008000"/>
                </a:solidFill>
                <a:uFillTx/>
                <a:latin typeface="Consolas"/>
              </a:rPr>
              <a:t># Train a Naive Bayes classifier</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clf = MultinomialNB()</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clf.fit(X_train, y_train)</a:t>
            </a:r>
            <a:endParaRPr b="0" lang="en-US" sz="1200" strike="noStrike" u="none">
              <a:solidFill>
                <a:srgbClr val="000000"/>
              </a:solidFill>
              <a:uFillTx/>
              <a:latin typeface="Arial"/>
            </a:endParaRPr>
          </a:p>
          <a:p>
            <a:pPr defTabSz="914400">
              <a:lnSpc>
                <a:spcPts val="1199"/>
              </a:lnSpc>
            </a:pPr>
            <a:br>
              <a:rPr sz="1200"/>
            </a:br>
            <a:r>
              <a:rPr b="0" lang="en-US" sz="1200" strike="noStrike" u="none">
                <a:solidFill>
                  <a:srgbClr val="008000"/>
                </a:solidFill>
                <a:uFillTx/>
                <a:latin typeface="Consolas"/>
              </a:rPr>
              <a:t># Make predictions</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y_pred = clf.predict(X_test)</a:t>
            </a:r>
            <a:endParaRPr b="0" lang="en-US" sz="1200" strike="noStrike" u="none">
              <a:solidFill>
                <a:srgbClr val="000000"/>
              </a:solidFill>
              <a:uFillTx/>
              <a:latin typeface="Arial"/>
            </a:endParaRPr>
          </a:p>
          <a:p>
            <a:pPr defTabSz="914400">
              <a:lnSpc>
                <a:spcPts val="1199"/>
              </a:lnSpc>
            </a:pPr>
            <a:br>
              <a:rPr sz="1200"/>
            </a:br>
            <a:r>
              <a:rPr b="0" lang="en-US" sz="1200" strike="noStrike" u="none">
                <a:solidFill>
                  <a:srgbClr val="008000"/>
                </a:solidFill>
                <a:uFillTx/>
                <a:latin typeface="Consolas"/>
              </a:rPr>
              <a:t># Evaluate</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"SENTIMENT CLASSIFICATION RESULTS:"</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"Accuracy: </a:t>
            </a:r>
            <a:r>
              <a:rPr b="0" lang="en-US" sz="1200" strike="noStrike" u="none">
                <a:solidFill>
                  <a:srgbClr val="000000"/>
                </a:solidFill>
                <a:uFillTx/>
                <a:latin typeface="Consolas"/>
              </a:rPr>
              <a:t>{accuracy_score(y_test, y_pred)</a:t>
            </a:r>
            <a:r>
              <a:rPr b="0" lang="en-US" sz="1200" strike="noStrike" u="none">
                <a:solidFill>
                  <a:srgbClr val="0000ff"/>
                </a:solidFill>
                <a:uFillTx/>
                <a:latin typeface="Consolas"/>
              </a:rPr>
              <a:t>:.2f</a:t>
            </a:r>
            <a:r>
              <a:rPr b="0" lang="en-US" sz="1200" strike="noStrike" u="none">
                <a:solidFill>
                  <a:srgbClr val="000000"/>
                </a:solidFill>
                <a:uFillTx/>
                <a:latin typeface="Consolas"/>
              </a:rPr>
              <a:t>}</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print(</a:t>
            </a:r>
            <a:r>
              <a:rPr b="0" lang="en-US" sz="1200" strike="noStrike" u="none">
                <a:solidFill>
                  <a:srgbClr val="a31515"/>
                </a:solidFill>
                <a:uFillTx/>
                <a:latin typeface="Consolas"/>
              </a:rPr>
              <a:t>"\nClassification Report:"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print(classification_report(y_test, y_pred))</a:t>
            </a:r>
            <a:endParaRPr b="0" lang="en-US" sz="1200" strike="noStrike" u="none">
              <a:solidFill>
                <a:srgbClr val="000000"/>
              </a:solidFill>
              <a:uFillTx/>
              <a:latin typeface="Arial"/>
            </a:endParaRPr>
          </a:p>
          <a:p>
            <a:pPr defTabSz="914400">
              <a:lnSpc>
                <a:spcPts val="1199"/>
              </a:lnSpc>
            </a:pPr>
            <a:br>
              <a:rPr sz="1200"/>
            </a:br>
            <a:r>
              <a:rPr b="0" lang="en-US" sz="1200" strike="noStrike" u="none">
                <a:solidFill>
                  <a:srgbClr val="008000"/>
                </a:solidFill>
                <a:uFillTx/>
                <a:latin typeface="Consolas"/>
              </a:rPr>
              <a:t># Demonstrate classification on new examples</a:t>
            </a:r>
            <a:endParaRPr b="0" lang="en-US" sz="1200" strike="noStrike" u="none">
              <a:solidFill>
                <a:srgbClr val="000000"/>
              </a:solidFill>
              <a:uFillTx/>
              <a:latin typeface="Arial"/>
            </a:endParaRPr>
          </a:p>
          <a:p>
            <a:pPr defTabSz="914400">
              <a:lnSpc>
                <a:spcPts val="1199"/>
              </a:lnSpc>
            </a:pPr>
            <a:r>
              <a:rPr b="0" lang="en-US" sz="1200" strike="noStrike" u="none">
                <a:solidFill>
                  <a:srgbClr val="0000ff"/>
                </a:solidFill>
                <a:uFillTx/>
                <a:latin typeface="Consolas"/>
              </a:rPr>
              <a:t>def</a:t>
            </a:r>
            <a:r>
              <a:rPr b="0" lang="en-US" sz="1200" strike="noStrike" u="none">
                <a:solidFill>
                  <a:srgbClr val="000000"/>
                </a:solidFill>
                <a:uFillTx/>
                <a:latin typeface="Consolas"/>
              </a:rPr>
              <a:t> predict_sentiment(text):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8000"/>
                </a:solidFill>
                <a:uFillTx/>
                <a:latin typeface="Consolas"/>
              </a:rPr>
              <a:t># Preprocess</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processed = </a:t>
            </a:r>
            <a:r>
              <a:rPr b="0" lang="en-US" sz="1200" strike="noStrike" u="none">
                <a:solidFill>
                  <a:srgbClr val="a31515"/>
                </a:solidFill>
                <a:uFillTx/>
                <a:latin typeface="Consolas"/>
              </a:rPr>
              <a:t>' '</a:t>
            </a:r>
            <a:r>
              <a:rPr b="0" lang="en-US" sz="1200" strike="noStrike" u="none">
                <a:solidFill>
                  <a:srgbClr val="000000"/>
                </a:solidFill>
                <a:uFillTx/>
                <a:latin typeface="Consolas"/>
              </a:rPr>
              <a:t>.join(preprocess_text(text, use_stemming=</a:t>
            </a:r>
            <a:r>
              <a:rPr b="0" lang="en-US" sz="1200" strike="noStrike" u="none">
                <a:solidFill>
                  <a:srgbClr val="0000ff"/>
                </a:solidFill>
                <a:uFillTx/>
                <a:latin typeface="Consolas"/>
              </a:rPr>
              <a:t>True</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8000"/>
                </a:solidFill>
                <a:uFillTx/>
                <a:latin typeface="Consolas"/>
              </a:rPr>
              <a:t># Transform to BOW</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bow = vectorizer.transform([processed])</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8000"/>
                </a:solidFill>
                <a:uFillTx/>
                <a:latin typeface="Consolas"/>
              </a:rPr>
              <a:t># Predict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prediction = clf.predict(bow)[</a:t>
            </a:r>
            <a:r>
              <a:rPr b="0" lang="en-US" sz="1200" strike="noStrike" u="none">
                <a:solidFill>
                  <a:srgbClr val="098658"/>
                </a:solidFill>
                <a:uFillTx/>
                <a:latin typeface="Consolas"/>
              </a:rPr>
              <a:t>0</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sentiment = </a:t>
            </a:r>
            <a:r>
              <a:rPr b="0" lang="en-US" sz="1200" strike="noStrike" u="none">
                <a:solidFill>
                  <a:srgbClr val="a31515"/>
                </a:solidFill>
                <a:uFillTx/>
                <a:latin typeface="Consolas"/>
              </a:rPr>
              <a:t>"Positive"</a:t>
            </a:r>
            <a:r>
              <a:rPr b="0" lang="en-US" sz="1200" strike="noStrike" u="none">
                <a:solidFill>
                  <a:srgbClr val="000000"/>
                </a:solidFill>
                <a:uFillTx/>
                <a:latin typeface="Consolas"/>
              </a:rPr>
              <a:t> </a:t>
            </a:r>
            <a:r>
              <a:rPr b="0" lang="en-US" sz="1200" strike="noStrike" u="none">
                <a:solidFill>
                  <a:srgbClr val="0000ff"/>
                </a:solidFill>
                <a:uFillTx/>
                <a:latin typeface="Consolas"/>
              </a:rPr>
              <a:t>if</a:t>
            </a:r>
            <a:r>
              <a:rPr b="0" lang="en-US" sz="1200" strike="noStrike" u="none">
                <a:solidFill>
                  <a:srgbClr val="000000"/>
                </a:solidFill>
                <a:uFillTx/>
                <a:latin typeface="Consolas"/>
              </a:rPr>
              <a:t> prediction == </a:t>
            </a:r>
            <a:r>
              <a:rPr b="0" lang="en-US" sz="1200" strike="noStrike" u="none">
                <a:solidFill>
                  <a:srgbClr val="098658"/>
                </a:solidFill>
                <a:uFillTx/>
                <a:latin typeface="Consolas"/>
              </a:rPr>
              <a:t>1</a:t>
            </a:r>
            <a:r>
              <a:rPr b="0" lang="en-US" sz="1200" strike="noStrike" u="none">
                <a:solidFill>
                  <a:srgbClr val="000000"/>
                </a:solidFill>
                <a:uFillTx/>
                <a:latin typeface="Consolas"/>
              </a:rPr>
              <a:t> </a:t>
            </a:r>
            <a:r>
              <a:rPr b="0" lang="en-US" sz="1200" strike="noStrike" u="none">
                <a:solidFill>
                  <a:srgbClr val="0000ff"/>
                </a:solidFill>
                <a:uFillTx/>
                <a:latin typeface="Consolas"/>
              </a:rPr>
              <a:t>else</a:t>
            </a:r>
            <a:r>
              <a:rPr b="0" lang="en-US" sz="1200" strike="noStrike" u="none">
                <a:solidFill>
                  <a:srgbClr val="000000"/>
                </a:solidFill>
                <a:uFillTx/>
                <a:latin typeface="Consolas"/>
              </a:rPr>
              <a:t> </a:t>
            </a:r>
            <a:r>
              <a:rPr b="0" lang="en-US" sz="1200" strike="noStrike" u="none">
                <a:solidFill>
                  <a:srgbClr val="a31515"/>
                </a:solidFill>
                <a:uFillTx/>
                <a:latin typeface="Consolas"/>
              </a:rPr>
              <a:t>"Negative"</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ff"/>
                </a:solidFill>
                <a:uFillTx/>
                <a:latin typeface="Consolas"/>
              </a:rPr>
              <a:t>return</a:t>
            </a:r>
            <a:r>
              <a:rPr b="0" lang="en-US" sz="1200" strike="noStrike" u="none">
                <a:solidFill>
                  <a:srgbClr val="000000"/>
                </a:solidFill>
                <a:uFillTx/>
                <a:latin typeface="Consolas"/>
              </a:rPr>
              <a:t> sentiment</a:t>
            </a:r>
            <a:endParaRPr b="0" lang="en-US" sz="1200" strike="noStrike" u="none">
              <a:solidFill>
                <a:srgbClr val="000000"/>
              </a:solidFill>
              <a:uFillTx/>
              <a:latin typeface="Arial"/>
            </a:endParaRPr>
          </a:p>
          <a:p>
            <a:pPr defTabSz="914400">
              <a:lnSpc>
                <a:spcPts val="1199"/>
              </a:lnSpc>
            </a:pPr>
            <a:br>
              <a:rPr sz="1200"/>
            </a:br>
            <a:r>
              <a:rPr b="0" lang="en-US" sz="1200" strike="noStrike" u="none">
                <a:solidFill>
                  <a:srgbClr val="000000"/>
                </a:solidFill>
                <a:uFillTx/>
                <a:latin typeface="Consolas"/>
              </a:rPr>
              <a:t>print(</a:t>
            </a:r>
            <a:r>
              <a:rPr b="0" lang="en-US" sz="1200" strike="noStrike" u="none">
                <a:solidFill>
                  <a:srgbClr val="a31515"/>
                </a:solidFill>
                <a:uFillTx/>
                <a:latin typeface="Consolas"/>
              </a:rPr>
              <a:t>"\nTRY WITH NEW EXAMPLES:"</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new_reviews = [</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a31515"/>
                </a:solidFill>
                <a:uFillTx/>
                <a:latin typeface="Consolas"/>
              </a:rPr>
              <a:t>"This movie exceeded all my expectations. The plot was incredible!"</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a31515"/>
                </a:solidFill>
                <a:uFillTx/>
                <a:latin typeface="Consolas"/>
              </a:rPr>
              <a:t>"What a waste of time. The worst movie I've seen this year."</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br>
              <a:rPr sz="1200"/>
            </a:br>
            <a:r>
              <a:rPr b="0" lang="en-US" sz="1200" strike="noStrike" u="none">
                <a:solidFill>
                  <a:srgbClr val="0000ff"/>
                </a:solidFill>
                <a:uFillTx/>
                <a:latin typeface="Consolas"/>
              </a:rPr>
              <a:t>for</a:t>
            </a:r>
            <a:r>
              <a:rPr b="0" lang="en-US" sz="1200" strike="noStrike" u="none">
                <a:solidFill>
                  <a:srgbClr val="000000"/>
                </a:solidFill>
                <a:uFillTx/>
                <a:latin typeface="Consolas"/>
              </a:rPr>
              <a:t> review </a:t>
            </a:r>
            <a:r>
              <a:rPr b="0" lang="en-US" sz="1200" strike="noStrike" u="none">
                <a:solidFill>
                  <a:srgbClr val="0000ff"/>
                </a:solidFill>
                <a:uFillTx/>
                <a:latin typeface="Consolas"/>
              </a:rPr>
              <a:t>in</a:t>
            </a:r>
            <a:r>
              <a:rPr b="0" lang="en-US" sz="1200" strike="noStrike" u="none">
                <a:solidFill>
                  <a:srgbClr val="000000"/>
                </a:solidFill>
                <a:uFillTx/>
                <a:latin typeface="Consolas"/>
              </a:rPr>
              <a:t> new_reviews:</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sentiment = predict_sentiment(review)</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"Review: '</a:t>
            </a:r>
            <a:r>
              <a:rPr b="0" lang="en-US" sz="1200" strike="noStrike" u="none">
                <a:solidFill>
                  <a:srgbClr val="000000"/>
                </a:solidFill>
                <a:uFillTx/>
                <a:latin typeface="Consolas"/>
              </a:rPr>
              <a:t>{review}</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a:p>
            <a:pPr defTabSz="914400">
              <a:lnSpc>
                <a:spcPts val="1199"/>
              </a:lnSpc>
            </a:pPr>
            <a:r>
              <a:rPr b="0" lang="en-US" sz="1200" strike="noStrike" u="none">
                <a:solidFill>
                  <a:srgbClr val="000000"/>
                </a:solidFill>
                <a:uFillTx/>
                <a:latin typeface="Consolas"/>
              </a:rPr>
              <a:t>    </a:t>
            </a:r>
            <a:r>
              <a:rPr b="0" lang="en-US" sz="1200" strike="noStrike" u="none">
                <a:solidFill>
                  <a:srgbClr val="000000"/>
                </a:solidFill>
                <a:uFillTx/>
                <a:latin typeface="Consolas"/>
              </a:rPr>
              <a:t>print(</a:t>
            </a:r>
            <a:r>
              <a:rPr b="0" lang="en-US" sz="1200" strike="noStrike" u="none">
                <a:solidFill>
                  <a:srgbClr val="0000ff"/>
                </a:solidFill>
                <a:uFillTx/>
                <a:latin typeface="Consolas"/>
              </a:rPr>
              <a:t>f</a:t>
            </a:r>
            <a:r>
              <a:rPr b="0" lang="en-US" sz="1200" strike="noStrike" u="none">
                <a:solidFill>
                  <a:srgbClr val="a31515"/>
                </a:solidFill>
                <a:uFillTx/>
                <a:latin typeface="Consolas"/>
              </a:rPr>
              <a:t>"Predicted sentiment: </a:t>
            </a:r>
            <a:r>
              <a:rPr b="0" lang="en-US" sz="1200" strike="noStrike" u="none">
                <a:solidFill>
                  <a:srgbClr val="000000"/>
                </a:solidFill>
                <a:uFillTx/>
                <a:latin typeface="Consolas"/>
              </a:rPr>
              <a:t>{sentiment}\n</a:t>
            </a:r>
            <a:r>
              <a:rPr b="0" lang="en-US" sz="1200" strike="noStrike" u="none">
                <a:solidFill>
                  <a:srgbClr val="a31515"/>
                </a:solidFill>
                <a:uFillTx/>
                <a:latin typeface="Consolas"/>
              </a:rPr>
              <a:t>"</a:t>
            </a:r>
            <a:r>
              <a:rPr b="0" lang="en-US" sz="1200" strike="noStrike" u="none">
                <a:solidFill>
                  <a:srgbClr val="000000"/>
                </a:solidFill>
                <a:uFillTx/>
                <a:latin typeface="Consolas"/>
              </a:rPr>
              <a:t>)</a:t>
            </a:r>
            <a:endParaRPr b="0" lang="en-US" sz="12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title"/>
          </p:nvPr>
        </p:nvSpPr>
        <p:spPr>
          <a:xfrm>
            <a:off x="831960" y="3429000"/>
            <a:ext cx="10515240" cy="1410120"/>
          </a:xfrm>
          <a:prstGeom prst="rect">
            <a:avLst/>
          </a:prstGeom>
          <a:noFill/>
          <a:ln w="0">
            <a:noFill/>
          </a:ln>
        </p:spPr>
        <p:txBody>
          <a:bodyPr lIns="91440" rIns="91440" tIns="45720" bIns="45720" anchor="b">
            <a:noAutofit/>
          </a:bodyPr>
          <a:p>
            <a:pPr indent="0" defTabSz="914400">
              <a:lnSpc>
                <a:spcPct val="90000"/>
              </a:lnSpc>
              <a:buNone/>
            </a:pPr>
            <a:r>
              <a:rPr b="0" lang="en-US" sz="6000" strike="noStrike" u="none">
                <a:solidFill>
                  <a:schemeClr val="dk1"/>
                </a:solidFill>
                <a:uFillTx/>
                <a:latin typeface="Calibri Light"/>
              </a:rPr>
              <a:t>Language Models</a:t>
            </a:r>
            <a:endParaRPr b="0" lang="en-US" sz="6000" strike="noStrike" u="none">
              <a:solidFill>
                <a:schemeClr val="dk1"/>
              </a:solidFill>
              <a:uFillTx/>
              <a:latin typeface="Calibri"/>
            </a:endParaRPr>
          </a:p>
        </p:txBody>
      </p:sp>
      <p:sp>
        <p:nvSpPr>
          <p:cNvPr id="170" name="PlaceHolder 2"/>
          <p:cNvSpPr>
            <a:spLocks noGrp="1"/>
          </p:cNvSpPr>
          <p:nvPr>
            <p:ph/>
          </p:nvPr>
        </p:nvSpPr>
        <p:spPr>
          <a:xfrm>
            <a:off x="831960" y="4956120"/>
            <a:ext cx="10515240" cy="1133280"/>
          </a:xfrm>
          <a:prstGeom prst="rect">
            <a:avLst/>
          </a:prstGeom>
          <a:noFill/>
          <a:ln w="0">
            <a:noFill/>
          </a:ln>
        </p:spPr>
        <p:txBody>
          <a:bodyPr lIns="91440" rIns="91440" tIns="45720" bIns="45720" anchor="t">
            <a:noAutofit/>
          </a:bodyPr>
          <a:p>
            <a:pPr indent="0">
              <a:lnSpc>
                <a:spcPct val="90000"/>
              </a:lnSpc>
              <a:spcBef>
                <a:spcPts val="1417"/>
              </a:spcBef>
              <a:buNone/>
            </a:pPr>
            <a:endParaRPr b="0" lang="en-US" sz="2400" strike="noStrike" u="none">
              <a:solidFill>
                <a:schemeClr val="dk1">
                  <a:tint val="75000"/>
                </a:schemeClr>
              </a:solidFill>
              <a:uFillTx/>
              <a:latin typeface="Calibri"/>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What is a Language Models?</a:t>
            </a:r>
            <a:endParaRPr b="0" lang="en-US" sz="2800" strike="noStrike" u="none">
              <a:solidFill>
                <a:schemeClr val="dk1"/>
              </a:solidFill>
              <a:uFillTx/>
              <a:latin typeface="Calibri"/>
            </a:endParaRPr>
          </a:p>
        </p:txBody>
      </p:sp>
      <p:sp>
        <p:nvSpPr>
          <p:cNvPr id="172" name="PlaceHolder 2"/>
          <p:cNvSpPr>
            <a:spLocks noGrp="1"/>
          </p:cNvSpPr>
          <p:nvPr>
            <p:ph/>
          </p:nvPr>
        </p:nvSpPr>
        <p:spPr>
          <a:xfrm>
            <a:off x="838080" y="1706040"/>
            <a:ext cx="4635360" cy="4990680"/>
          </a:xfrm>
          <a:prstGeom prst="rect">
            <a:avLst/>
          </a:prstGeom>
          <a:noFill/>
          <a:ln w="0">
            <a:noFill/>
          </a:ln>
        </p:spPr>
        <p:txBody>
          <a:bodyPr lIns="91440" rIns="91440" tIns="45720" bIns="45720" anchor="t">
            <a:normAutofit fontScale="55000" lnSpcReduction="19999"/>
          </a:bodyPr>
          <a:p>
            <a:pPr indent="0" defTabSz="914400">
              <a:lnSpc>
                <a:spcPct val="90000"/>
              </a:lnSpc>
              <a:spcBef>
                <a:spcPts val="1001"/>
              </a:spcBef>
              <a:buNone/>
              <a:tabLst>
                <a:tab algn="l" pos="0"/>
              </a:tabLst>
            </a:pPr>
            <a:r>
              <a:rPr b="0" lang="en-US" sz="2400" strike="noStrike" u="none">
                <a:solidFill>
                  <a:schemeClr val="dk1"/>
                </a:solidFill>
                <a:uFillTx/>
                <a:latin typeface="Calibri"/>
              </a:rPr>
              <a:t>Language models are statistical or neural models that capture the probability distribution of words or tokens in a language. </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They predict the likelihood of a sequence of words occurring together, enabling machines to understand and generate human language.</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Types of Language Models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1) Statistical Language Models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N-gram Models</a:t>
            </a:r>
            <a:r>
              <a:rPr b="0" lang="en-US" sz="2400" strike="noStrike" u="none">
                <a:solidFill>
                  <a:schemeClr val="dk1"/>
                </a:solidFill>
                <a:uFillTx/>
                <a:latin typeface="Calibri"/>
              </a:rPr>
              <a:t>: Predict the next word based on the previous N-1 words </a:t>
            </a:r>
            <a:endParaRPr b="0" lang="en-US" sz="24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Unigram: P(word) - individual word probabilities</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Bigram: P(word₂|word₁) - probability of word₂ given word₁</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Trigram: P(word₃|word₁,word₂) - probability of word₃ given word₁ and word₂</a:t>
            </a:r>
            <a:endParaRPr b="0" lang="en-US" sz="20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2) Neural Language Models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RNN/LSTM-based</a:t>
            </a:r>
            <a:r>
              <a:rPr b="0" lang="en-US" sz="2400" strike="noStrike" u="none">
                <a:solidFill>
                  <a:schemeClr val="dk1"/>
                </a:solidFill>
                <a:uFillTx/>
                <a:latin typeface="Calibri"/>
              </a:rPr>
              <a:t>: Process sequences by maintaining hidden states </a:t>
            </a:r>
            <a:endParaRPr b="0" lang="en-US" sz="24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Better at capturing long-range dependencies than n-grams</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Examples: Early versions of Google Translate</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Transformer-based</a:t>
            </a:r>
            <a:r>
              <a:rPr b="0" lang="en-US" sz="2400" strike="noStrike" u="none">
                <a:solidFill>
                  <a:schemeClr val="dk1"/>
                </a:solidFill>
                <a:uFillTx/>
                <a:latin typeface="Calibri"/>
              </a:rPr>
              <a:t>: Use attention mechanisms to process entire sequences </a:t>
            </a:r>
            <a:endParaRPr b="0" lang="en-US" sz="24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BERT: Bidirectional, focuses on understanding context</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GPT: Autoregressive, focuses on text generation</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T5, RoBERTa, ELECTRA: Refinements of transformer architecture</a:t>
            </a:r>
            <a:endParaRPr b="0" lang="en-US" sz="20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What are N-grams?</a:t>
            </a:r>
            <a:endParaRPr b="0" lang="en-US" sz="2800" strike="noStrike" u="none">
              <a:solidFill>
                <a:schemeClr val="dk1"/>
              </a:solidFill>
              <a:uFillTx/>
              <a:latin typeface="Calibri"/>
            </a:endParaRPr>
          </a:p>
        </p:txBody>
      </p:sp>
      <p:sp>
        <p:nvSpPr>
          <p:cNvPr id="174" name="PlaceHolder 2"/>
          <p:cNvSpPr>
            <a:spLocks noGrp="1"/>
          </p:cNvSpPr>
          <p:nvPr>
            <p:ph/>
          </p:nvPr>
        </p:nvSpPr>
        <p:spPr>
          <a:xfrm>
            <a:off x="838080" y="1706040"/>
            <a:ext cx="6415560" cy="49906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N-grams are a way to break down text into chunks of </a:t>
            </a:r>
            <a:r>
              <a:rPr b="0" i="1" lang="en-US" sz="2400" strike="noStrike" u="none">
                <a:solidFill>
                  <a:schemeClr val="dk1"/>
                </a:solidFill>
                <a:uFillTx/>
                <a:latin typeface="Calibri"/>
              </a:rPr>
              <a:t>n</a:t>
            </a:r>
            <a:r>
              <a:rPr b="0" lang="en-US" sz="2400" strike="noStrike" u="none">
                <a:solidFill>
                  <a:schemeClr val="dk1"/>
                </a:solidFill>
                <a:uFillTx/>
                <a:latin typeface="Calibri"/>
              </a:rPr>
              <a:t> words to understand language structure and context better.</a:t>
            </a:r>
            <a:endParaRPr b="0" lang="en-US" sz="24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pPr>
            <a:r>
              <a:rPr b="0" lang="en-US" sz="2000" strike="noStrike" u="none">
                <a:solidFill>
                  <a:schemeClr val="dk1"/>
                </a:solidFill>
                <a:uFillTx/>
                <a:latin typeface="Calibri"/>
              </a:rPr>
              <a:t>Unigram (1-gram) = single words → "this", "is", "a", "sentence“</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pPr>
            <a:r>
              <a:rPr b="0" lang="en-US" sz="2000" strike="noStrike" u="none">
                <a:solidFill>
                  <a:schemeClr val="dk1"/>
                </a:solidFill>
                <a:uFillTx/>
                <a:latin typeface="Calibri"/>
              </a:rPr>
              <a:t>Bigram (2-gram) = pairs of consecutive words → "this is", "is a", "a sentence“</a:t>
            </a:r>
            <a:endParaRPr b="0" lang="en-US" sz="2000" strike="noStrike" u="none">
              <a:solidFill>
                <a:schemeClr val="dk1"/>
              </a:solidFill>
              <a:uFillTx/>
              <a:latin typeface="Calibri"/>
            </a:endParaRPr>
          </a:p>
          <a:p>
            <a:pPr lvl="1" marL="743040" indent="-28584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Trigram (3-gram) = triples of consecutive words → "this is a", "is a sentence"</a:t>
            </a:r>
            <a:endParaRPr b="0" lang="en-US" sz="2000" strike="noStrike" u="none">
              <a:solidFill>
                <a:schemeClr val="dk1"/>
              </a:solidFill>
              <a:uFillTx/>
              <a:latin typeface="Calibri"/>
            </a:endParaRPr>
          </a:p>
          <a:p>
            <a:pPr indent="0" defTabSz="914400">
              <a:lnSpc>
                <a:spcPct val="90000"/>
              </a:lnSpc>
              <a:spcBef>
                <a:spcPts val="1001"/>
              </a:spcBef>
              <a:buNone/>
            </a:pPr>
            <a:endParaRPr b="0" lang="en-US" sz="2400" strike="noStrike" u="none">
              <a:solidFill>
                <a:schemeClr val="dk1"/>
              </a:solidFill>
              <a:uFillTx/>
              <a:latin typeface="Calibri"/>
            </a:endParaRPr>
          </a:p>
        </p:txBody>
      </p:sp>
      <p:pic>
        <p:nvPicPr>
          <p:cNvPr id="175" name="Picture 2" descr="N-grams - fastText Quick Start Guide [Book]"/>
          <p:cNvPicPr/>
          <p:nvPr/>
        </p:nvPicPr>
        <p:blipFill>
          <a:blip r:embed="rId1"/>
          <a:stretch/>
        </p:blipFill>
        <p:spPr>
          <a:xfrm>
            <a:off x="7692840" y="1862280"/>
            <a:ext cx="3660480" cy="1566360"/>
          </a:xfrm>
          <a:prstGeom prst="rect">
            <a:avLst/>
          </a:prstGeom>
          <a:noFill/>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Implementing Language Models using N-grams</a:t>
            </a:r>
            <a:endParaRPr b="0" lang="en-US" sz="2800" strike="noStrike" u="none">
              <a:solidFill>
                <a:schemeClr val="dk1"/>
              </a:solidFill>
              <a:uFillTx/>
              <a:latin typeface="Calibri"/>
            </a:endParaRPr>
          </a:p>
        </p:txBody>
      </p:sp>
      <p:sp>
        <p:nvSpPr>
          <p:cNvPr id="177" name="Content Placeholder 2"/>
          <p:cNvSpPr/>
          <p:nvPr/>
        </p:nvSpPr>
        <p:spPr>
          <a:xfrm>
            <a:off x="6546960" y="1600200"/>
            <a:ext cx="4901040" cy="5257440"/>
          </a:xfrm>
          <a:prstGeom prst="rect">
            <a:avLst/>
          </a:prstGeom>
          <a:noFill/>
          <a:ln w="0">
            <a:noFill/>
          </a:ln>
        </p:spPr>
        <p:style>
          <a:lnRef idx="0"/>
          <a:fillRef idx="0"/>
          <a:effectRef idx="0"/>
          <a:fontRef idx="minor"/>
        </p:style>
        <p:txBody>
          <a:bodyPr anchor="t">
            <a:normAutofit fontScale="92500" lnSpcReduction="9999"/>
          </a:bodyPr>
          <a:p>
            <a:pPr defTabSz="914400">
              <a:lnSpc>
                <a:spcPct val="120000"/>
              </a:lnSpc>
              <a:tabLst>
                <a:tab algn="l" pos="0"/>
              </a:tabLst>
            </a:pPr>
            <a:r>
              <a:rPr b="0" lang="en-US" sz="700" strike="noStrike" u="none">
                <a:solidFill>
                  <a:srgbClr val="0000ff"/>
                </a:solidFill>
                <a:uFillTx/>
                <a:latin typeface="Consolas"/>
              </a:rPr>
              <a:t>import</a:t>
            </a:r>
            <a:r>
              <a:rPr b="0" lang="en-US" sz="700" strike="noStrike" u="none">
                <a:solidFill>
                  <a:srgbClr val="000000"/>
                </a:solidFill>
                <a:uFillTx/>
                <a:latin typeface="Consolas"/>
              </a:rPr>
              <a:t> random</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ff"/>
                </a:solidFill>
                <a:uFillTx/>
                <a:latin typeface="Consolas"/>
              </a:rPr>
              <a:t>from</a:t>
            </a:r>
            <a:r>
              <a:rPr b="0" lang="en-US" sz="700" strike="noStrike" u="none">
                <a:solidFill>
                  <a:srgbClr val="000000"/>
                </a:solidFill>
                <a:uFillTx/>
                <a:latin typeface="Consolas"/>
              </a:rPr>
              <a:t> collections </a:t>
            </a:r>
            <a:r>
              <a:rPr b="0" lang="en-US" sz="700" strike="noStrike" u="none">
                <a:solidFill>
                  <a:srgbClr val="0000ff"/>
                </a:solidFill>
                <a:uFillTx/>
                <a:latin typeface="Consolas"/>
              </a:rPr>
              <a:t>import</a:t>
            </a:r>
            <a:r>
              <a:rPr b="0" lang="en-US" sz="700" strike="noStrike" u="none">
                <a:solidFill>
                  <a:srgbClr val="000000"/>
                </a:solidFill>
                <a:uFillTx/>
                <a:latin typeface="Consolas"/>
              </a:rPr>
              <a:t> defaultdict</a:t>
            </a:r>
            <a:endParaRPr b="0" lang="en-US" sz="700" strike="noStrike" u="none">
              <a:solidFill>
                <a:srgbClr val="000000"/>
              </a:solidFill>
              <a:uFillTx/>
              <a:latin typeface="Arial"/>
            </a:endParaRPr>
          </a:p>
          <a:p>
            <a:pPr defTabSz="914400">
              <a:lnSpc>
                <a:spcPct val="120000"/>
              </a:lnSpc>
              <a:tabLst>
                <a:tab algn="l" pos="0"/>
              </a:tabLst>
            </a:pPr>
            <a:br>
              <a:rPr sz="700"/>
            </a:br>
            <a:r>
              <a:rPr b="0" lang="en-US" sz="700" strike="noStrike" u="none">
                <a:solidFill>
                  <a:srgbClr val="0000ff"/>
                </a:solidFill>
                <a:uFillTx/>
                <a:latin typeface="Consolas"/>
              </a:rPr>
              <a:t>def</a:t>
            </a:r>
            <a:r>
              <a:rPr b="0" lang="en-US" sz="700" strike="noStrike" u="none">
                <a:solidFill>
                  <a:srgbClr val="000000"/>
                </a:solidFill>
                <a:uFillTx/>
                <a:latin typeface="Consolas"/>
              </a:rPr>
              <a:t> build_ngram_model(text, n=</a:t>
            </a:r>
            <a:r>
              <a:rPr b="0" lang="en-US" sz="700" strike="noStrike" u="none">
                <a:solidFill>
                  <a:srgbClr val="098658"/>
                </a:solidFill>
                <a:uFillTx/>
                <a:latin typeface="Consolas"/>
              </a:rPr>
              <a:t>2</a:t>
            </a:r>
            <a:r>
              <a:rPr b="0" lang="en-US" sz="700" strike="noStrike" u="none">
                <a:solidFill>
                  <a:srgbClr val="000000"/>
                </a:solidFill>
                <a:uFillTx/>
                <a:latin typeface="Consolas"/>
              </a:rPr>
              <a: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a31515"/>
                </a:solidFill>
                <a:uFillTx/>
                <a:latin typeface="Consolas"/>
              </a:rPr>
              <a:t>"""Build an n-gram language model from text."""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tokens = word_tokenize(text.lower())</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ngrams_dict = defaultdict(list)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8000"/>
                </a:solidFill>
                <a:uFillTx/>
                <a:latin typeface="Consolas"/>
              </a:rPr>
              <a:t># Create dictionary of n-grams and possible next words</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for</a:t>
            </a:r>
            <a:r>
              <a:rPr b="0" lang="en-US" sz="700" strike="noStrike" u="none">
                <a:solidFill>
                  <a:srgbClr val="000000"/>
                </a:solidFill>
                <a:uFillTx/>
                <a:latin typeface="Consolas"/>
              </a:rPr>
              <a:t> i </a:t>
            </a:r>
            <a:r>
              <a:rPr b="0" lang="en-US" sz="700" strike="noStrike" u="none">
                <a:solidFill>
                  <a:srgbClr val="0000ff"/>
                </a:solidFill>
                <a:uFillTx/>
                <a:latin typeface="Consolas"/>
              </a:rPr>
              <a:t>in</a:t>
            </a:r>
            <a:r>
              <a:rPr b="0" lang="en-US" sz="700" strike="noStrike" u="none">
                <a:solidFill>
                  <a:srgbClr val="000000"/>
                </a:solidFill>
                <a:uFillTx/>
                <a:latin typeface="Consolas"/>
              </a:rPr>
              <a:t> range(len(tokens) - n):</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current_ngram = tuple(tokens[i:i+n])</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next_word = tokens[i+n]</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ngrams_dict[current_ngram].append(next_word)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return</a:t>
            </a:r>
            <a:r>
              <a:rPr b="0" lang="en-US" sz="700" strike="noStrike" u="none">
                <a:solidFill>
                  <a:srgbClr val="000000"/>
                </a:solidFill>
                <a:uFillTx/>
                <a:latin typeface="Consolas"/>
              </a:rPr>
              <a:t> ngrams_dict</a:t>
            </a:r>
            <a:endParaRPr b="0" lang="en-US" sz="700" strike="noStrike" u="none">
              <a:solidFill>
                <a:srgbClr val="000000"/>
              </a:solidFill>
              <a:uFillTx/>
              <a:latin typeface="Arial"/>
            </a:endParaRPr>
          </a:p>
          <a:p>
            <a:pPr defTabSz="914400">
              <a:lnSpc>
                <a:spcPct val="120000"/>
              </a:lnSpc>
              <a:tabLst>
                <a:tab algn="l" pos="0"/>
              </a:tabLst>
            </a:pPr>
            <a:br>
              <a:rPr sz="700"/>
            </a:br>
            <a:r>
              <a:rPr b="0" lang="en-US" sz="700" strike="noStrike" u="none">
                <a:solidFill>
                  <a:srgbClr val="0000ff"/>
                </a:solidFill>
                <a:uFillTx/>
                <a:latin typeface="Consolas"/>
              </a:rPr>
              <a:t>def</a:t>
            </a:r>
            <a:r>
              <a:rPr b="0" lang="en-US" sz="700" strike="noStrike" u="none">
                <a:solidFill>
                  <a:srgbClr val="000000"/>
                </a:solidFill>
                <a:uFillTx/>
                <a:latin typeface="Consolas"/>
              </a:rPr>
              <a:t> generate_text(model, seed, length=</a:t>
            </a:r>
            <a:r>
              <a:rPr b="0" lang="en-US" sz="700" strike="noStrike" u="none">
                <a:solidFill>
                  <a:srgbClr val="098658"/>
                </a:solidFill>
                <a:uFillTx/>
                <a:latin typeface="Consolas"/>
              </a:rPr>
              <a:t>20</a:t>
            </a:r>
            <a:r>
              <a:rPr b="0" lang="en-US" sz="700" strike="noStrike" u="none">
                <a:solidFill>
                  <a:srgbClr val="000000"/>
                </a:solidFill>
                <a:uFillTx/>
                <a:latin typeface="Consolas"/>
              </a:rPr>
              <a: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a31515"/>
                </a:solidFill>
                <a:uFillTx/>
                <a:latin typeface="Consolas"/>
              </a:rPr>
              <a:t>"""Generate text using the n-gram model."""</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current = seed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result = list(seed)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for</a:t>
            </a:r>
            <a:r>
              <a:rPr b="0" lang="en-US" sz="700" strike="noStrike" u="none">
                <a:solidFill>
                  <a:srgbClr val="000000"/>
                </a:solidFill>
                <a:uFillTx/>
                <a:latin typeface="Consolas"/>
              </a:rPr>
              <a:t> _ </a:t>
            </a:r>
            <a:r>
              <a:rPr b="0" lang="en-US" sz="700" strike="noStrike" u="none">
                <a:solidFill>
                  <a:srgbClr val="0000ff"/>
                </a:solidFill>
                <a:uFillTx/>
                <a:latin typeface="Consolas"/>
              </a:rPr>
              <a:t>in</a:t>
            </a:r>
            <a:r>
              <a:rPr b="0" lang="en-US" sz="700" strike="noStrike" u="none">
                <a:solidFill>
                  <a:srgbClr val="000000"/>
                </a:solidFill>
                <a:uFillTx/>
                <a:latin typeface="Consolas"/>
              </a:rPr>
              <a:t> range(length):</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if</a:t>
            </a:r>
            <a:r>
              <a:rPr b="0" lang="en-US" sz="700" strike="noStrike" u="none">
                <a:solidFill>
                  <a:srgbClr val="000000"/>
                </a:solidFill>
                <a:uFillTx/>
                <a:latin typeface="Consolas"/>
              </a:rPr>
              <a:t> current </a:t>
            </a:r>
            <a:r>
              <a:rPr b="0" lang="en-US" sz="700" strike="noStrike" u="none">
                <a:solidFill>
                  <a:srgbClr val="0000ff"/>
                </a:solidFill>
                <a:uFillTx/>
                <a:latin typeface="Consolas"/>
              </a:rPr>
              <a:t>in</a:t>
            </a:r>
            <a:r>
              <a:rPr b="0" lang="en-US" sz="700" strike="noStrike" u="none">
                <a:solidFill>
                  <a:srgbClr val="000000"/>
                </a:solidFill>
                <a:uFillTx/>
                <a:latin typeface="Consolas"/>
              </a:rPr>
              <a:t> model:</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8000"/>
                </a:solidFill>
                <a:uFillTx/>
                <a:latin typeface="Consolas"/>
              </a:rPr>
              <a:t># Randomly select a possible next word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next_word = random.choice(model[current])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result.append(next_word)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8000"/>
                </a:solidFill>
                <a:uFillTx/>
                <a:latin typeface="Consolas"/>
              </a:rPr>
              <a:t># Update current n-gram</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00"/>
                </a:solidFill>
                <a:uFillTx/>
                <a:latin typeface="Consolas"/>
              </a:rPr>
              <a:t>current = current[</a:t>
            </a:r>
            <a:r>
              <a:rPr b="0" lang="en-US" sz="700" strike="noStrike" u="none">
                <a:solidFill>
                  <a:srgbClr val="098658"/>
                </a:solidFill>
                <a:uFillTx/>
                <a:latin typeface="Consolas"/>
              </a:rPr>
              <a:t>1</a:t>
            </a:r>
            <a:r>
              <a:rPr b="0" lang="en-US" sz="700" strike="noStrike" u="none">
                <a:solidFill>
                  <a:srgbClr val="000000"/>
                </a:solidFill>
                <a:uFillTx/>
                <a:latin typeface="Consolas"/>
              </a:rPr>
              <a:t>:] + (next_word,)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else</a:t>
            </a:r>
            <a:r>
              <a:rPr b="0" lang="en-US" sz="700" strike="noStrike" u="none">
                <a:solidFill>
                  <a:srgbClr val="000000"/>
                </a:solidFill>
                <a:uFillTx/>
                <a:latin typeface="Consolas"/>
              </a:rPr>
              <a: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8000"/>
                </a:solidFill>
                <a:uFillTx/>
                <a:latin typeface="Consolas"/>
              </a:rPr>
              <a:t># If current n-gram is not in model, break</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break</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    </a:t>
            </a:r>
            <a:r>
              <a:rPr b="0" lang="en-US" sz="700" strike="noStrike" u="none">
                <a:solidFill>
                  <a:srgbClr val="0000ff"/>
                </a:solidFill>
                <a:uFillTx/>
                <a:latin typeface="Consolas"/>
              </a:rPr>
              <a:t>return</a:t>
            </a:r>
            <a:r>
              <a:rPr b="0" lang="en-US" sz="700" strike="noStrike" u="none">
                <a:solidFill>
                  <a:srgbClr val="000000"/>
                </a:solidFill>
                <a:uFillTx/>
                <a:latin typeface="Consolas"/>
              </a:rPr>
              <a:t> </a:t>
            </a:r>
            <a:r>
              <a:rPr b="0" lang="en-US" sz="700" strike="noStrike" u="none">
                <a:solidFill>
                  <a:srgbClr val="a31515"/>
                </a:solidFill>
                <a:uFillTx/>
                <a:latin typeface="Consolas"/>
              </a:rPr>
              <a:t>' '</a:t>
            </a:r>
            <a:r>
              <a:rPr b="0" lang="en-US" sz="700" strike="noStrike" u="none">
                <a:solidFill>
                  <a:srgbClr val="000000"/>
                </a:solidFill>
                <a:uFillTx/>
                <a:latin typeface="Consolas"/>
              </a:rPr>
              <a:t>.join(result)</a:t>
            </a:r>
            <a:endParaRPr b="0" lang="en-US" sz="700" strike="noStrike" u="none">
              <a:solidFill>
                <a:srgbClr val="000000"/>
              </a:solidFill>
              <a:uFillTx/>
              <a:latin typeface="Arial"/>
            </a:endParaRPr>
          </a:p>
          <a:p>
            <a:pPr defTabSz="914400">
              <a:lnSpc>
                <a:spcPct val="120000"/>
              </a:lnSpc>
              <a:tabLst>
                <a:tab algn="l" pos="0"/>
              </a:tabLst>
            </a:pPr>
            <a:br>
              <a:rPr sz="700"/>
            </a:br>
            <a:r>
              <a:rPr b="0" lang="en-US" sz="700" strike="noStrike" u="none">
                <a:solidFill>
                  <a:srgbClr val="008000"/>
                </a:solidFill>
                <a:uFillTx/>
                <a:latin typeface="Consolas"/>
              </a:rPr>
              <a:t># Sample text corpus</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corpus = </a:t>
            </a:r>
            <a:r>
              <a:rPr b="0" lang="en-US" sz="700" strike="noStrike" u="none">
                <a:solidFill>
                  <a:srgbClr val="a31515"/>
                </a:solidFill>
                <a:uFillTx/>
                <a:latin typeface="Consolas"/>
              </a:rPr>
              <a:t>"""Large language models are transforming how businesses operate. </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a31515"/>
                </a:solidFill>
                <a:uFillTx/>
                <a:latin typeface="Consolas"/>
              </a:rPr>
              <a:t>These models can understand language, generate text, and perform various tasks. </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a31515"/>
                </a:solidFill>
                <a:uFillTx/>
                <a:latin typeface="Consolas"/>
              </a:rPr>
              <a:t>Businesses use language models for customer service, content creation, and data analysis.</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a31515"/>
                </a:solidFill>
                <a:uFillTx/>
                <a:latin typeface="Consolas"/>
              </a:rPr>
              <a:t>Language models learn patterns from vast amounts of text data."""</a:t>
            </a:r>
            <a:endParaRPr b="0" lang="en-US" sz="700" strike="noStrike" u="none">
              <a:solidFill>
                <a:srgbClr val="000000"/>
              </a:solidFill>
              <a:uFillTx/>
              <a:latin typeface="Arial"/>
            </a:endParaRPr>
          </a:p>
          <a:p>
            <a:pPr defTabSz="914400">
              <a:lnSpc>
                <a:spcPct val="120000"/>
              </a:lnSpc>
              <a:tabLst>
                <a:tab algn="l" pos="0"/>
              </a:tabLst>
            </a:pPr>
            <a:br>
              <a:rPr sz="700"/>
            </a:br>
            <a:r>
              <a:rPr b="0" lang="en-US" sz="700" strike="noStrike" u="none">
                <a:solidFill>
                  <a:srgbClr val="008000"/>
                </a:solidFill>
                <a:uFillTx/>
                <a:latin typeface="Consolas"/>
              </a:rPr>
              <a:t># Build a bigram model</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bigram_model = build_ngram_model(corpus, </a:t>
            </a:r>
            <a:r>
              <a:rPr b="0" lang="en-US" sz="700" strike="noStrike" u="none">
                <a:solidFill>
                  <a:srgbClr val="098658"/>
                </a:solidFill>
                <a:uFillTx/>
                <a:latin typeface="Consolas"/>
              </a:rPr>
              <a:t>2</a:t>
            </a:r>
            <a:r>
              <a:rPr b="0" lang="en-US" sz="700" strike="noStrike" u="none">
                <a:solidFill>
                  <a:srgbClr val="000000"/>
                </a:solidFill>
                <a:uFillTx/>
                <a:latin typeface="Consolas"/>
              </a:rPr>
              <a:t>)</a:t>
            </a:r>
            <a:endParaRPr b="0" lang="en-US" sz="700" strike="noStrike" u="none">
              <a:solidFill>
                <a:srgbClr val="000000"/>
              </a:solidFill>
              <a:uFillTx/>
              <a:latin typeface="Arial"/>
            </a:endParaRPr>
          </a:p>
          <a:p>
            <a:pPr defTabSz="914400">
              <a:lnSpc>
                <a:spcPct val="120000"/>
              </a:lnSpc>
              <a:tabLst>
                <a:tab algn="l" pos="0"/>
              </a:tabLst>
            </a:pPr>
            <a:br>
              <a:rPr sz="700"/>
            </a:br>
            <a:r>
              <a:rPr b="0" lang="en-US" sz="700" strike="noStrike" u="none">
                <a:solidFill>
                  <a:srgbClr val="008000"/>
                </a:solidFill>
                <a:uFillTx/>
                <a:latin typeface="Consolas"/>
              </a:rPr>
              <a:t># Generate text using the model</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seed = (</a:t>
            </a:r>
            <a:r>
              <a:rPr b="0" lang="en-US" sz="700" strike="noStrike" u="none">
                <a:solidFill>
                  <a:srgbClr val="a31515"/>
                </a:solidFill>
                <a:uFillTx/>
                <a:latin typeface="Consolas"/>
              </a:rPr>
              <a:t>'language'</a:t>
            </a:r>
            <a:r>
              <a:rPr b="0" lang="en-US" sz="700" strike="noStrike" u="none">
                <a:solidFill>
                  <a:srgbClr val="000000"/>
                </a:solidFill>
                <a:uFillTx/>
                <a:latin typeface="Consolas"/>
              </a:rPr>
              <a:t>, </a:t>
            </a:r>
            <a:r>
              <a:rPr b="0" lang="en-US" sz="700" strike="noStrike" u="none">
                <a:solidFill>
                  <a:srgbClr val="a31515"/>
                </a:solidFill>
                <a:uFillTx/>
                <a:latin typeface="Consolas"/>
              </a:rPr>
              <a:t>'models'</a:t>
            </a:r>
            <a:r>
              <a:rPr b="0" lang="en-US" sz="700" strike="noStrike" u="none">
                <a:solidFill>
                  <a:srgbClr val="000000"/>
                </a:solidFill>
                <a:uFillTx/>
                <a:latin typeface="Consolas"/>
              </a:rPr>
              <a:t>)</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generated_text = generate_text(bigram_model, seed)</a:t>
            </a:r>
            <a:endParaRPr b="0" lang="en-US" sz="700" strike="noStrike" u="none">
              <a:solidFill>
                <a:srgbClr val="000000"/>
              </a:solidFill>
              <a:uFillTx/>
              <a:latin typeface="Arial"/>
            </a:endParaRPr>
          </a:p>
          <a:p>
            <a:pPr defTabSz="914400">
              <a:lnSpc>
                <a:spcPct val="120000"/>
              </a:lnSpc>
              <a:tabLst>
                <a:tab algn="l" pos="0"/>
              </a:tabLst>
            </a:pPr>
            <a:r>
              <a:rPr b="0" lang="en-US" sz="700" strike="noStrike" u="none">
                <a:solidFill>
                  <a:srgbClr val="000000"/>
                </a:solidFill>
                <a:uFillTx/>
                <a:latin typeface="Consolas"/>
              </a:rPr>
              <a:t>print(generated_text)</a:t>
            </a:r>
            <a:endParaRPr b="0" lang="en-US" sz="700" strike="noStrike" u="none">
              <a:solidFill>
                <a:srgbClr val="000000"/>
              </a:solidFill>
              <a:uFillTx/>
              <a:latin typeface="Arial"/>
            </a:endParaRPr>
          </a:p>
          <a:p>
            <a:pPr defTabSz="914400">
              <a:lnSpc>
                <a:spcPct val="120000"/>
              </a:lnSpc>
              <a:tabLst>
                <a:tab algn="l" pos="0"/>
              </a:tabLst>
            </a:pPr>
            <a:endParaRPr b="0" lang="en-US" sz="700" strike="noStrike" u="none">
              <a:solidFill>
                <a:srgbClr val="000000"/>
              </a:solidFill>
              <a:uFillTx/>
              <a:latin typeface="Arial"/>
            </a:endParaRPr>
          </a:p>
          <a:p>
            <a:pPr defTabSz="914400">
              <a:lnSpc>
                <a:spcPct val="120000"/>
              </a:lnSpc>
              <a:buClr>
                <a:srgbClr val="008000"/>
              </a:buClr>
              <a:buFont typeface="Arial"/>
              <a:buChar char="•"/>
              <a:tabLst>
                <a:tab algn="l" pos="0"/>
              </a:tabLst>
            </a:pPr>
            <a:r>
              <a:rPr b="0" lang="en-US" sz="700" strike="noStrike" u="none">
                <a:solidFill>
                  <a:srgbClr val="008000"/>
                </a:solidFill>
                <a:uFillTx/>
                <a:latin typeface="Consolas"/>
              </a:rPr>
              <a:t># Output might be: "language models learn patterns from vast amounts of text data businesses use language models for customer service content creation and data analysis"</a:t>
            </a:r>
            <a:endParaRPr b="0" lang="en-US" sz="700" strike="noStrike" u="none">
              <a:solidFill>
                <a:srgbClr val="000000"/>
              </a:solidFill>
              <a:uFillTx/>
              <a:latin typeface="Arial"/>
            </a:endParaRPr>
          </a:p>
          <a:p>
            <a:pPr defTabSz="914400">
              <a:lnSpc>
                <a:spcPct val="120000"/>
              </a:lnSpc>
              <a:tabLst>
                <a:tab algn="l" pos="0"/>
              </a:tabLst>
            </a:pPr>
            <a:endParaRPr b="0" lang="en-US" sz="700" strike="noStrike" u="none">
              <a:solidFill>
                <a:srgbClr val="000000"/>
              </a:solidFill>
              <a:uFillTx/>
              <a:latin typeface="Arial"/>
            </a:endParaRPr>
          </a:p>
        </p:txBody>
      </p:sp>
      <p:sp>
        <p:nvSpPr>
          <p:cNvPr id="178" name="PlaceHolder 2"/>
          <p:cNvSpPr>
            <a:spLocks noGrp="1"/>
          </p:cNvSpPr>
          <p:nvPr>
            <p:ph/>
          </p:nvPr>
        </p:nvSpPr>
        <p:spPr>
          <a:xfrm>
            <a:off x="838080" y="1600200"/>
            <a:ext cx="5209920" cy="4990680"/>
          </a:xfrm>
          <a:prstGeom prst="rect">
            <a:avLst/>
          </a:prstGeom>
          <a:noFill/>
          <a:ln w="0">
            <a:noFill/>
          </a:ln>
        </p:spPr>
        <p:txBody>
          <a:bodyPr lIns="91440" rIns="91440" tIns="45720" bIns="45720" anchor="t">
            <a:normAutofit fontScale="70000" lnSpcReduction="19999"/>
          </a:bodyPr>
          <a:p>
            <a:pPr indent="0" defTabSz="914400">
              <a:lnSpc>
                <a:spcPct val="90000"/>
              </a:lnSpc>
              <a:spcBef>
                <a:spcPts val="1001"/>
              </a:spcBef>
              <a:buNone/>
              <a:tabLst>
                <a:tab algn="l" pos="0"/>
              </a:tabLst>
            </a:pPr>
            <a:r>
              <a:rPr b="0" lang="en-US" sz="2400" strike="noStrike" u="none">
                <a:solidFill>
                  <a:schemeClr val="dk1"/>
                </a:solidFill>
                <a:uFillTx/>
                <a:latin typeface="Calibri"/>
              </a:rPr>
              <a:t>This code builds a simple n-gram-based language model and uses it to generate new text.</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build_ngram_model(text, n=2)</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Tokenizes the input text into lowercase words.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Iterates through the tokens to extract n-grams.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Stores each n-gram (as a tuple) and its possible next word(s) in a dictionary(ngrams_dict).</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Returns the dictionary as the language model.</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r>
              <a:rPr b="0" lang="en-US" sz="2400" strike="noStrike" u="none">
                <a:solidFill>
                  <a:schemeClr val="dk1"/>
                </a:solidFill>
                <a:uFillTx/>
                <a:latin typeface="Calibri"/>
              </a:rPr>
              <a:t>generate_text(model, seed, length=20)</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Starts with a seed n-gram (a tuple of n words).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For each step:</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Looks up the seed in the model.</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Randomly selects a next word from possible continuations.</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Appends the word to the result and shifts the n-gram window.</a:t>
            </a:r>
            <a:endParaRPr b="0" lang="en-US" sz="20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Stops when:</a:t>
            </a:r>
            <a:endParaRPr b="0" lang="en-US" sz="24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The desired length is reached, or</a:t>
            </a:r>
            <a:endParaRPr b="0" lang="en-US" sz="20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tabLst>
                <a:tab algn="l" pos="0"/>
              </a:tabLst>
            </a:pPr>
            <a:r>
              <a:rPr b="0" lang="en-US" sz="2000" strike="noStrike" u="none">
                <a:solidFill>
                  <a:schemeClr val="dk1"/>
                </a:solidFill>
                <a:uFillTx/>
                <a:latin typeface="Calibri"/>
              </a:rPr>
              <a:t>The current n-gram has no match in the model.</a:t>
            </a:r>
            <a:endParaRPr b="0" lang="en-US" sz="2000" strike="noStrike" u="none">
              <a:solidFill>
                <a:schemeClr val="dk1"/>
              </a:solidFill>
              <a:uFillTx/>
              <a:latin typeface="Calibri"/>
            </a:endParaRPr>
          </a:p>
        </p:txBody>
      </p:sp>
      <p:pic>
        <p:nvPicPr>
          <p:cNvPr id="179" name="Graphic 13" descr="">
            <a:hlinkClick r:id="rId1"/>
          </p:cNvPr>
          <p:cNvPicPr/>
          <p:nvPr/>
        </p:nvPicPr>
        <p:blipFill>
          <a:blip r:embed="rId2">
            <a:extLst>
              <a:ext uri="{96DAC541-7B7A-43D3-8B79-37D633B846F1}">
                <asvg:svgBlip xmlns:asvg="http://schemas.microsoft.com/office/drawing/2016/SVG/main" r:embed="rId3"/>
              </a:ext>
            </a:extLst>
          </a:blip>
          <a:stretch/>
        </p:blipFill>
        <p:spPr>
          <a:xfrm>
            <a:off x="10196280" y="1661400"/>
            <a:ext cx="1114200" cy="190080"/>
          </a:xfrm>
          <a:prstGeom prst="rect">
            <a:avLst/>
          </a:prstGeom>
          <a:noFill/>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Autofit/>
          </a:bodyPr>
          <a:p>
            <a:pPr indent="0" defTabSz="914400">
              <a:lnSpc>
                <a:spcPct val="90000"/>
              </a:lnSpc>
              <a:buNone/>
            </a:pPr>
            <a:r>
              <a:rPr b="0" lang="en-US" sz="2800" strike="noStrike" u="none">
                <a:solidFill>
                  <a:schemeClr val="lt1"/>
                </a:solidFill>
                <a:uFillTx/>
                <a:latin typeface="Calibri Light"/>
              </a:rPr>
              <a:t>Perplexity</a:t>
            </a:r>
            <a:endParaRPr b="0" lang="en-US" sz="2800" strike="noStrike" u="none">
              <a:solidFill>
                <a:schemeClr val="dk1"/>
              </a:solidFill>
              <a:uFillTx/>
              <a:latin typeface="Calibri"/>
            </a:endParaRPr>
          </a:p>
        </p:txBody>
      </p:sp>
      <p:sp>
        <p:nvSpPr>
          <p:cNvPr id="181" name="PlaceHolder 2"/>
          <p:cNvSpPr>
            <a:spLocks noGrp="1"/>
          </p:cNvSpPr>
          <p:nvPr>
            <p:ph/>
          </p:nvPr>
        </p:nvSpPr>
        <p:spPr>
          <a:xfrm>
            <a:off x="838080" y="1706040"/>
            <a:ext cx="10515240" cy="4990680"/>
          </a:xfrm>
          <a:prstGeom prst="rect">
            <a:avLst/>
          </a:prstGeom>
          <a:noFill/>
          <a:ln w="0">
            <a:noFill/>
          </a:ln>
        </p:spPr>
        <p:txBody>
          <a:bodyPr lIns="91440" rIns="91440" tIns="45720" bIns="45720" anchor="t">
            <a:normAutofit fontScale="55000" lnSpcReduction="19999"/>
          </a:bodyPr>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Perplexity measures how confused a language model is when predicting text.</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What It Means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Lower perplexity</a:t>
            </a:r>
            <a:r>
              <a:rPr b="0" lang="en-US" sz="2400" strike="noStrike" u="none">
                <a:solidFill>
                  <a:schemeClr val="dk1"/>
                </a:solidFill>
                <a:uFillTx/>
                <a:latin typeface="Calibri"/>
              </a:rPr>
              <a:t> = Model is more confident and accurate</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uFillTx/>
                <a:latin typeface="Calibri"/>
              </a:rPr>
              <a:t>Higher perplexity</a:t>
            </a:r>
            <a:r>
              <a:rPr b="0" lang="en-US" sz="2400" strike="noStrike" u="none">
                <a:solidFill>
                  <a:schemeClr val="dk1"/>
                </a:solidFill>
                <a:uFillTx/>
                <a:latin typeface="Calibri"/>
              </a:rPr>
              <a:t> = Model is more uncertain and confused</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Simple Example</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Imagine you're trying to predict the next word in: "I went to the _____"</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A good model might assign high probability to words like "store," "park," "beach"</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A confused model might spread probabilities evenly across thousands of words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Perplexity essentially counts how many reasonable options the model is considering. If the model has a perplexity of 10, it's like the model is equally confused between 10 possible words.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Real-World Comparison</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If your phone keyboard suggests 3 very likely next words, it has low perplexity. If it suggests random unrelated words, it has high perplexity.</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1" lang="en-US" sz="2400" strike="noStrike" u="none">
                <a:solidFill>
                  <a:schemeClr val="dk1"/>
                </a:solidFill>
                <a:uFillTx/>
                <a:latin typeface="Calibri"/>
              </a:rPr>
              <a:t>Why It Matters</a:t>
            </a:r>
            <a:endParaRPr b="0" lang="en-US" sz="2400" strike="noStrike" u="none">
              <a:solidFill>
                <a:schemeClr val="dk1"/>
              </a:solidFill>
              <a:uFillTx/>
              <a:latin typeface="Calibri"/>
            </a:endParaRPr>
          </a:p>
          <a:p>
            <a:pPr marL="228600" indent="-228600" defTabSz="914400">
              <a:lnSpc>
                <a:spcPct val="90000"/>
              </a:lnSpc>
              <a:spcBef>
                <a:spcPts val="1001"/>
              </a:spcBef>
              <a:buNone/>
              <a:tabLst>
                <a:tab algn="l" pos="0"/>
              </a:tabLst>
            </a:pPr>
            <a:r>
              <a:rPr b="0" lang="en-US" sz="2400" strike="noStrike" u="none">
                <a:solidFill>
                  <a:schemeClr val="dk1"/>
                </a:solidFill>
                <a:uFillTx/>
                <a:latin typeface="Calibri"/>
              </a:rPr>
              <a:t>Think of perplexity as a "confusion score" that helps researchers: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Compare different language models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Check if a model is improving during training</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Identify when a model works better for certain types of text</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uFillTx/>
                <a:latin typeface="Calibri"/>
              </a:rPr>
              <a:t>The best language models today have much lower perplexity than older models, which is why they produce more natural-sounding text.</a:t>
            </a:r>
            <a:endParaRPr b="0" lang="en-US" sz="2400" strike="noStrike" u="none">
              <a:solidFill>
                <a:schemeClr val="dk1"/>
              </a:solidFill>
              <a:uFillTx/>
              <a:latin typeface="Calibri"/>
            </a:endParaRPr>
          </a:p>
          <a:p>
            <a:pPr indent="0" defTabSz="914400">
              <a:lnSpc>
                <a:spcPct val="90000"/>
              </a:lnSpc>
              <a:spcBef>
                <a:spcPts val="1001"/>
              </a:spcBef>
              <a:buNone/>
              <a:tabLst>
                <a:tab algn="l" pos="0"/>
              </a:tabLst>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838080" y="797400"/>
            <a:ext cx="10515240" cy="747720"/>
          </a:xfrm>
          <a:prstGeom prst="rect">
            <a:avLst/>
          </a:prstGeom>
          <a:solidFill>
            <a:srgbClr val="67337a"/>
          </a:solidFill>
          <a:ln w="0">
            <a:noFill/>
          </a:ln>
        </p:spPr>
        <p:txBody>
          <a:bodyPr lIns="91440" rIns="91440" tIns="45720" bIns="45720" anchor="ctr">
            <a:normAutofit/>
          </a:bodyPr>
          <a:p>
            <a:pPr indent="0" defTabSz="914400">
              <a:lnSpc>
                <a:spcPct val="90000"/>
              </a:lnSpc>
              <a:buNone/>
            </a:pPr>
            <a:r>
              <a:rPr b="0" lang="en-US" sz="2800" strike="noStrike" u="none">
                <a:solidFill>
                  <a:schemeClr val="lt1"/>
                </a:solidFill>
                <a:uFillTx/>
                <a:latin typeface="Calibri Light"/>
              </a:rPr>
              <a:t>Limitations of N-gram Models</a:t>
            </a:r>
            <a:endParaRPr b="0" lang="en-US" sz="2800" strike="noStrike" u="none">
              <a:solidFill>
                <a:schemeClr val="dk1"/>
              </a:solidFill>
              <a:uFillTx/>
              <a:latin typeface="Calibri"/>
            </a:endParaRPr>
          </a:p>
        </p:txBody>
      </p:sp>
      <p:sp>
        <p:nvSpPr>
          <p:cNvPr id="183" name="PlaceHolder 2"/>
          <p:cNvSpPr>
            <a:spLocks noGrp="1"/>
          </p:cNvSpPr>
          <p:nvPr>
            <p:ph/>
          </p:nvPr>
        </p:nvSpPr>
        <p:spPr>
          <a:xfrm>
            <a:off x="838080" y="1706040"/>
            <a:ext cx="10515240" cy="49906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Limited context: Only consider a fixed number of previous words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No long-range dependencies: Cannot capture relationships between distant words</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No semantic understanding: Model captures statistical patterns but not meaning</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Memory intensive: Storing all possible n-grams requires significant space</a:t>
            </a:r>
            <a:endParaRPr b="0" lang="en-US" sz="2400" strike="noStrike" u="none">
              <a:solidFill>
                <a:schemeClr val="dk1"/>
              </a:solidFill>
              <a:uFillTx/>
              <a:latin typeface="Calibri"/>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uFillTx/>
                <a:latin typeface="Calibri"/>
              </a:rPr>
              <a:t>Data sparsity: Many valid word combinations don't appear in training data</a:t>
            </a:r>
            <a:endParaRPr b="0" lang="en-US" sz="2400" strike="noStrike" u="none">
              <a:solidFill>
                <a:schemeClr val="dk1"/>
              </a:solidFill>
              <a:uFillTx/>
              <a:latin typeface="Calibri"/>
            </a:endParaRPr>
          </a:p>
          <a:p>
            <a:pPr indent="0" defTabSz="914400">
              <a:lnSpc>
                <a:spcPct val="90000"/>
              </a:lnSpc>
              <a:spcBef>
                <a:spcPts val="1001"/>
              </a:spcBef>
              <a:buNone/>
            </a:pPr>
            <a:endParaRPr b="0" lang="en-US" sz="2400" strike="noStrike" u="none">
              <a:solidFill>
                <a:schemeClr val="dk1"/>
              </a:solidFill>
              <a:uFillTx/>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7576</TotalTime>
  <Application>LibreOffice/24.8.5.2$Linux_X86_64 LibreOffice_project/480$Build-2</Application>
  <AppVersion>15.0000</AppVersion>
  <Words>5188</Words>
  <Paragraphs>568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2023-03-26T11:17:23Z</dcterms:created>
  <dc:creator>Mohammed Fasha</dc:creator>
  <dc:description/>
  <dc:language>en-US</dc:language>
  <cp:lastModifiedBy/>
  <dcterms:modified xsi:type="dcterms:W3CDTF">2025-03-25T05:23:43Z</dcterms:modified>
  <cp:revision>1116</cp:revision>
  <dc:subject/>
  <dc:title>Probability Distribution Functions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35</vt:i4>
  </property>
</Properties>
</file>